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5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EAD1F-9DEF-4869-82BC-905445E9B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RMR </a:t>
            </a:r>
            <a:r>
              <a:rPr lang="sk-SK" dirty="0"/>
              <a:t>úloha 3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DD27E-330A-49C3-B794-ABEA95579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7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DF2D-CD56-45A7-8964-A17EC6FA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Počiatočné podmienky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8097-8BFE-48E3-97E3-9334107CF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Čo máme</a:t>
            </a:r>
          </a:p>
          <a:p>
            <a:pPr lvl="1"/>
            <a:r>
              <a:rPr lang="sk-SK" dirty="0"/>
              <a:t>Poloha </a:t>
            </a:r>
            <a:r>
              <a:rPr lang="sk-SK" dirty="0" err="1"/>
              <a:t>x,y</a:t>
            </a:r>
            <a:r>
              <a:rPr lang="sk-SK" dirty="0"/>
              <a:t>, φ</a:t>
            </a:r>
          </a:p>
          <a:p>
            <a:pPr lvl="1"/>
            <a:r>
              <a:rPr lang="sk-SK" dirty="0"/>
              <a:t>Údaje z laserového diaľkomera</a:t>
            </a:r>
          </a:p>
          <a:p>
            <a:pPr lvl="1"/>
            <a:r>
              <a:rPr lang="sk-SK" dirty="0"/>
              <a:t>Spôsob prechádzania priestoru (manuálne, </a:t>
            </a:r>
            <a:r>
              <a:rPr lang="sk-SK" dirty="0" err="1"/>
              <a:t>semiautonómne</a:t>
            </a:r>
            <a:r>
              <a:rPr lang="sk-SK" dirty="0"/>
              <a:t>, autonómne)</a:t>
            </a:r>
          </a:p>
          <a:p>
            <a:r>
              <a:rPr lang="sk-SK" dirty="0"/>
              <a:t>Čo chceme dostať </a:t>
            </a:r>
          </a:p>
          <a:p>
            <a:pPr lvl="1"/>
            <a:r>
              <a:rPr lang="sk-SK" dirty="0"/>
              <a:t>Mapa priestoru so zaznačenými prekážkami</a:t>
            </a:r>
          </a:p>
          <a:p>
            <a:pPr lvl="1"/>
            <a:r>
              <a:rPr lang="sk-SK" dirty="0"/>
              <a:t>Mapa je vo formáte okupačnej mriežky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233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Základný princíp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AE3DB20-1EEC-4900-A3C5-53ED06A11276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1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335621"/>
              </p:ext>
            </p:extLst>
          </p:nvPr>
        </p:nvGraphicFramePr>
        <p:xfrm>
          <a:off x="2038525" y="1489753"/>
          <a:ext cx="6671195" cy="3954700"/>
        </p:xfrm>
        <a:graphic>
          <a:graphicData uri="http://schemas.openxmlformats.org/drawingml/2006/table">
            <a:tbl>
              <a:tblPr/>
              <a:tblGrid>
                <a:gridCol w="6671195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</a:tblGrid>
              <a:tr h="39547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Základný princíp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BF810E-8A2A-4D78-AF67-A5A4F3BCD8A4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296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119768"/>
              </p:ext>
            </p:extLst>
          </p:nvPr>
        </p:nvGraphicFramePr>
        <p:xfrm>
          <a:off x="2038525" y="1489753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Základný princíp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936AC79-03D9-4D8A-AA9A-41B03C502521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142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077974"/>
              </p:ext>
            </p:extLst>
          </p:nvPr>
        </p:nvGraphicFramePr>
        <p:xfrm>
          <a:off x="2038525" y="1489755"/>
          <a:ext cx="6671200" cy="3954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3560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61776566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57949262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77576723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1838662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9670703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1870798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42161743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711691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739408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32264201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29609625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05944073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2344056077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781154048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95868529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22212932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1074961205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3668214474"/>
                    </a:ext>
                  </a:extLst>
                </a:gridCol>
                <a:gridCol w="333560">
                  <a:extLst>
                    <a:ext uri="{9D8B030D-6E8A-4147-A177-3AD203B41FA5}">
                      <a16:colId xmlns:a16="http://schemas.microsoft.com/office/drawing/2014/main" val="817950661"/>
                    </a:ext>
                  </a:extLst>
                </a:gridCol>
              </a:tblGrid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5574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38171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52585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51079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70353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867062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78039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2917"/>
                  </a:ext>
                </a:extLst>
              </a:tr>
              <a:tr h="3954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6055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Základný princíp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585CC7-E8F8-426C-8187-677788E8A8A6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317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588731"/>
              </p:ext>
            </p:extLst>
          </p:nvPr>
        </p:nvGraphicFramePr>
        <p:xfrm>
          <a:off x="2038525" y="1489753"/>
          <a:ext cx="6671200" cy="3954700"/>
        </p:xfrm>
        <a:graphic>
          <a:graphicData uri="http://schemas.openxmlformats.org/drawingml/2006/table">
            <a:tbl>
              <a:tblPr/>
              <a:tblGrid>
                <a:gridCol w="222373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960246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1197292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21659252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890492881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7671581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43454507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664134162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5040064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3610691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23727034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5661380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5805624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2632817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798569384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2313964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54849205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19104859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1856556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91505298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995549800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04340292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0166240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3734767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31903373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1166134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2810574026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30870653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730069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2504818"/>
                    </a:ext>
                  </a:extLst>
                </a:gridCol>
              </a:tblGrid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540302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80504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40193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56943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40740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48134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75933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45192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67122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07724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19167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16312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42476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38108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Základný princíp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4A0C14-2AEF-4541-ADF7-78BC74CEFBD3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95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834260"/>
              </p:ext>
            </p:extLst>
          </p:nvPr>
        </p:nvGraphicFramePr>
        <p:xfrm>
          <a:off x="2038525" y="1489753"/>
          <a:ext cx="6671200" cy="3954700"/>
        </p:xfrm>
        <a:graphic>
          <a:graphicData uri="http://schemas.openxmlformats.org/drawingml/2006/table">
            <a:tbl>
              <a:tblPr/>
              <a:tblGrid>
                <a:gridCol w="222373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960246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1197292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21659252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890492881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7671581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43454507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664134162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5040064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3610691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23727034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5661380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5805624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2632817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798569384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2313964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54849205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19104859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1856556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91505298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995549800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04340292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0166240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3734767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31903373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1166134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2810574026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30870653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730069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2504818"/>
                    </a:ext>
                  </a:extLst>
                </a:gridCol>
              </a:tblGrid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540302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80504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40193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6943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0740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48134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5933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5192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67122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07724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9167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16312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2476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8108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Základný princíp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4A0C14-2AEF-4541-ADF7-78BC74CEFBD3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5D6646F-B5C8-40C9-ADB2-039E9CDC9415}"/>
              </a:ext>
            </a:extLst>
          </p:cNvPr>
          <p:cNvSpPr/>
          <p:nvPr/>
        </p:nvSpPr>
        <p:spPr>
          <a:xfrm rot="3323297">
            <a:off x="5243117" y="2794612"/>
            <a:ext cx="562060" cy="503331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09C74A-2D89-475F-8227-EB2C43E45628}"/>
              </a:ext>
            </a:extLst>
          </p:cNvPr>
          <p:cNvSpPr/>
          <p:nvPr/>
        </p:nvSpPr>
        <p:spPr>
          <a:xfrm>
            <a:off x="4436664" y="179093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6ED591-5BC1-485E-A6B5-D67ED5B59B22}"/>
              </a:ext>
            </a:extLst>
          </p:cNvPr>
          <p:cNvSpPr/>
          <p:nvPr/>
        </p:nvSpPr>
        <p:spPr>
          <a:xfrm>
            <a:off x="6614845" y="2557978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274375-47E9-46F0-BB00-3ABF1D1E25C8}"/>
              </a:ext>
            </a:extLst>
          </p:cNvPr>
          <p:cNvSpPr/>
          <p:nvPr/>
        </p:nvSpPr>
        <p:spPr>
          <a:xfrm>
            <a:off x="6569126" y="271642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51B822B-E224-48C5-B3D2-626F29048119}"/>
              </a:ext>
            </a:extLst>
          </p:cNvPr>
          <p:cNvSpPr/>
          <p:nvPr/>
        </p:nvSpPr>
        <p:spPr>
          <a:xfrm>
            <a:off x="6429310" y="289166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EAD91B-2057-4CE4-888D-BD21065A64E3}"/>
              </a:ext>
            </a:extLst>
          </p:cNvPr>
          <p:cNvSpPr/>
          <p:nvPr/>
        </p:nvSpPr>
        <p:spPr>
          <a:xfrm>
            <a:off x="6440502" y="316595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E763B95-41CE-4CE3-BBC6-5307A3674558}"/>
              </a:ext>
            </a:extLst>
          </p:cNvPr>
          <p:cNvSpPr/>
          <p:nvPr/>
        </p:nvSpPr>
        <p:spPr>
          <a:xfrm>
            <a:off x="6546266" y="3397660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C0B30B-06D3-4914-B511-EDAE07323367}"/>
              </a:ext>
            </a:extLst>
          </p:cNvPr>
          <p:cNvSpPr/>
          <p:nvPr/>
        </p:nvSpPr>
        <p:spPr>
          <a:xfrm>
            <a:off x="4305834" y="459488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DC7C1B-3A77-4047-90BD-1DBDF68B108D}"/>
              </a:ext>
            </a:extLst>
          </p:cNvPr>
          <p:cNvSpPr/>
          <p:nvPr/>
        </p:nvSpPr>
        <p:spPr>
          <a:xfrm>
            <a:off x="4305834" y="440404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9ABDCB-C445-4F3A-A8CB-6B61664FD7BC}"/>
              </a:ext>
            </a:extLst>
          </p:cNvPr>
          <p:cNvSpPr/>
          <p:nvPr/>
        </p:nvSpPr>
        <p:spPr>
          <a:xfrm>
            <a:off x="4336907" y="416744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198425-F45C-461D-9E98-53E1C73CEC0B}"/>
              </a:ext>
            </a:extLst>
          </p:cNvPr>
          <p:cNvSpPr/>
          <p:nvPr/>
        </p:nvSpPr>
        <p:spPr>
          <a:xfrm>
            <a:off x="4262746" y="396841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A615CB2-0B0F-4215-AED6-C20346F1901C}"/>
              </a:ext>
            </a:extLst>
          </p:cNvPr>
          <p:cNvSpPr/>
          <p:nvPr/>
        </p:nvSpPr>
        <p:spPr>
          <a:xfrm>
            <a:off x="4302772" y="378466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F9A940-B317-41D9-B184-7DFAEFF18B7B}"/>
              </a:ext>
            </a:extLst>
          </p:cNvPr>
          <p:cNvSpPr/>
          <p:nvPr/>
        </p:nvSpPr>
        <p:spPr>
          <a:xfrm>
            <a:off x="4336906" y="363116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DF9AD87-1CAC-40EB-922C-214BD040A4FF}"/>
              </a:ext>
            </a:extLst>
          </p:cNvPr>
          <p:cNvSpPr/>
          <p:nvPr/>
        </p:nvSpPr>
        <p:spPr>
          <a:xfrm>
            <a:off x="4319894" y="346318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0DEEF2-02DC-43A1-B9E0-2CC95B9DAE9E}"/>
              </a:ext>
            </a:extLst>
          </p:cNvPr>
          <p:cNvSpPr/>
          <p:nvPr/>
        </p:nvSpPr>
        <p:spPr>
          <a:xfrm>
            <a:off x="4062353" y="346318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93FA34-C6CA-4E08-A462-49B7AA8B30AF}"/>
              </a:ext>
            </a:extLst>
          </p:cNvPr>
          <p:cNvSpPr/>
          <p:nvPr/>
        </p:nvSpPr>
        <p:spPr>
          <a:xfrm>
            <a:off x="3685266" y="345479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99386D3-5977-4B3E-91A7-AABD7F983DED}"/>
              </a:ext>
            </a:extLst>
          </p:cNvPr>
          <p:cNvSpPr/>
          <p:nvPr/>
        </p:nvSpPr>
        <p:spPr>
          <a:xfrm>
            <a:off x="4390945" y="216613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D98137-1951-4157-A668-D935D3ADFC7E}"/>
              </a:ext>
            </a:extLst>
          </p:cNvPr>
          <p:cNvSpPr/>
          <p:nvPr/>
        </p:nvSpPr>
        <p:spPr>
          <a:xfrm>
            <a:off x="4129160" y="217502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DE7AD4B-28C7-4616-A245-2AABAA7A550E}"/>
              </a:ext>
            </a:extLst>
          </p:cNvPr>
          <p:cNvSpPr/>
          <p:nvPr/>
        </p:nvSpPr>
        <p:spPr>
          <a:xfrm>
            <a:off x="3867375" y="222992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010FD17-87D2-4621-A860-30B00B220B15}"/>
              </a:ext>
            </a:extLst>
          </p:cNvPr>
          <p:cNvSpPr/>
          <p:nvPr/>
        </p:nvSpPr>
        <p:spPr>
          <a:xfrm>
            <a:off x="3614915" y="218341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59BB60F-3D78-41B5-A197-4D077922DFD3}"/>
              </a:ext>
            </a:extLst>
          </p:cNvPr>
          <p:cNvSpPr/>
          <p:nvPr/>
        </p:nvSpPr>
        <p:spPr>
          <a:xfrm>
            <a:off x="4442512" y="202640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426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675889"/>
              </p:ext>
            </p:extLst>
          </p:nvPr>
        </p:nvGraphicFramePr>
        <p:xfrm>
          <a:off x="2038525" y="1489753"/>
          <a:ext cx="6671200" cy="3954700"/>
        </p:xfrm>
        <a:graphic>
          <a:graphicData uri="http://schemas.openxmlformats.org/drawingml/2006/table">
            <a:tbl>
              <a:tblPr/>
              <a:tblGrid>
                <a:gridCol w="222373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960246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1197292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21659252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890492881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7671581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43454507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664134162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5040064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3610691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23727034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5661380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5805624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2632817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798569384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2313964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54849205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19104859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1856556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91505298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995549800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04340292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0166240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3734767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31903373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1166134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2810574026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30870653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730069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2504818"/>
                    </a:ext>
                  </a:extLst>
                </a:gridCol>
              </a:tblGrid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540302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80504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40193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6943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0740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48134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5933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5192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67122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07724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9167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16312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2476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8108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Základný princíp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4A0C14-2AEF-4541-ADF7-78BC74CEFBD3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D5CE7C4-485D-4A2A-9A97-CC08C0362E00}"/>
              </a:ext>
            </a:extLst>
          </p:cNvPr>
          <p:cNvSpPr/>
          <p:nvPr/>
        </p:nvSpPr>
        <p:spPr>
          <a:xfrm rot="7882388">
            <a:off x="2285246" y="3388225"/>
            <a:ext cx="562060" cy="503331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8DCF56-A8FB-46AB-9C80-4B94121250A5}"/>
              </a:ext>
            </a:extLst>
          </p:cNvPr>
          <p:cNvSpPr/>
          <p:nvPr/>
        </p:nvSpPr>
        <p:spPr>
          <a:xfrm>
            <a:off x="3596404" y="476818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AE4D55-3251-4819-98CF-3DC6EA502B55}"/>
              </a:ext>
            </a:extLst>
          </p:cNvPr>
          <p:cNvSpPr/>
          <p:nvPr/>
        </p:nvSpPr>
        <p:spPr>
          <a:xfrm>
            <a:off x="3649210" y="454916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2E0309-5D49-4CE8-84DE-B55020B3ECF5}"/>
              </a:ext>
            </a:extLst>
          </p:cNvPr>
          <p:cNvSpPr/>
          <p:nvPr/>
        </p:nvSpPr>
        <p:spPr>
          <a:xfrm>
            <a:off x="3551218" y="418875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728259-56AC-428E-868B-F72E8755ED35}"/>
              </a:ext>
            </a:extLst>
          </p:cNvPr>
          <p:cNvSpPr/>
          <p:nvPr/>
        </p:nvSpPr>
        <p:spPr>
          <a:xfrm>
            <a:off x="3626351" y="394464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585BAD-57A3-4B54-95CC-FB77DFFA961B}"/>
              </a:ext>
            </a:extLst>
          </p:cNvPr>
          <p:cNvSpPr/>
          <p:nvPr/>
        </p:nvSpPr>
        <p:spPr>
          <a:xfrm>
            <a:off x="3596404" y="364730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41B1BA-AC72-46E3-A5D5-CCCEF7EC2DB5}"/>
              </a:ext>
            </a:extLst>
          </p:cNvPr>
          <p:cNvSpPr/>
          <p:nvPr/>
        </p:nvSpPr>
        <p:spPr>
          <a:xfrm>
            <a:off x="3619798" y="345884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EEEB69-DAAA-4B1F-BAF3-2B97D8E3E5C8}"/>
              </a:ext>
            </a:extLst>
          </p:cNvPr>
          <p:cNvSpPr/>
          <p:nvPr/>
        </p:nvSpPr>
        <p:spPr>
          <a:xfrm>
            <a:off x="2490057" y="2083709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C369AC-DBAD-4FF9-939F-7F5A7E9147ED}"/>
              </a:ext>
            </a:extLst>
          </p:cNvPr>
          <p:cNvSpPr/>
          <p:nvPr/>
        </p:nvSpPr>
        <p:spPr>
          <a:xfrm>
            <a:off x="2757489" y="208800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86A5E3-1E8B-4CC8-AE98-DAC43937C214}"/>
              </a:ext>
            </a:extLst>
          </p:cNvPr>
          <p:cNvSpPr/>
          <p:nvPr/>
        </p:nvSpPr>
        <p:spPr>
          <a:xfrm>
            <a:off x="2995194" y="221138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6190B62-E570-41C6-9D15-83E2F9836490}"/>
              </a:ext>
            </a:extLst>
          </p:cNvPr>
          <p:cNvSpPr/>
          <p:nvPr/>
        </p:nvSpPr>
        <p:spPr>
          <a:xfrm>
            <a:off x="3293106" y="2175410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1208445-9ECA-4BB7-9AEF-9DF2632F3A42}"/>
              </a:ext>
            </a:extLst>
          </p:cNvPr>
          <p:cNvSpPr/>
          <p:nvPr/>
        </p:nvSpPr>
        <p:spPr>
          <a:xfrm>
            <a:off x="3551218" y="217970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04FE680-0EB8-4FBC-B566-C7F81B2F36B4}"/>
              </a:ext>
            </a:extLst>
          </p:cNvPr>
          <p:cNvSpPr/>
          <p:nvPr/>
        </p:nvSpPr>
        <p:spPr>
          <a:xfrm>
            <a:off x="3695462" y="2172468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5B0828-45F4-4404-AE0C-0A90DC3DEED4}"/>
              </a:ext>
            </a:extLst>
          </p:cNvPr>
          <p:cNvSpPr/>
          <p:nvPr/>
        </p:nvSpPr>
        <p:spPr>
          <a:xfrm>
            <a:off x="3943233" y="209562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254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55B9-1C1D-4A4D-B953-4AB1934B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Ako</a:t>
            </a:r>
            <a:r>
              <a:rPr lang="en-GB" dirty="0"/>
              <a:t> </a:t>
            </a:r>
            <a:r>
              <a:rPr lang="en-GB" dirty="0" err="1"/>
              <a:t>prer</a:t>
            </a:r>
            <a:r>
              <a:rPr lang="sk-SK" dirty="0" err="1"/>
              <a:t>átať</a:t>
            </a:r>
            <a:r>
              <a:rPr lang="sk-SK" dirty="0"/>
              <a:t> laserové meranie do globálnych súradníc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5213CC0-C49C-42F0-A28F-A579247015E5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C57DD3-2177-41B7-B526-1EC68733DA12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07B7C7-B9B5-4100-AAE2-037CF6CAA7D5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07B7C7-B9B5-4100-AAE2-037CF6CAA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E275967-D0AB-470C-A04F-651A355B2E8C}"/>
              </a:ext>
            </a:extLst>
          </p:cNvPr>
          <p:cNvSpPr/>
          <p:nvPr/>
        </p:nvSpPr>
        <p:spPr>
          <a:xfrm rot="6344213">
            <a:off x="3011697" y="3360851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FC1C63-8511-49BE-BB6C-4E0508D6EC57}"/>
              </a:ext>
            </a:extLst>
          </p:cNvPr>
          <p:cNvSpPr/>
          <p:nvPr/>
        </p:nvSpPr>
        <p:spPr>
          <a:xfrm>
            <a:off x="5582786" y="3344857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E4FD19-3B8D-4061-ADDD-D5A15A715E16}"/>
              </a:ext>
            </a:extLst>
          </p:cNvPr>
          <p:cNvCxnSpPr>
            <a:cxnSpLocks/>
          </p:cNvCxnSpPr>
          <p:nvPr/>
        </p:nvCxnSpPr>
        <p:spPr>
          <a:xfrm flipV="1">
            <a:off x="3209925" y="2939350"/>
            <a:ext cx="219075" cy="6731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DE8271-8F49-40E7-AD71-14B2850F8C03}"/>
              </a:ext>
            </a:extLst>
          </p:cNvPr>
          <p:cNvCxnSpPr>
            <a:cxnSpLocks/>
          </p:cNvCxnSpPr>
          <p:nvPr/>
        </p:nvCxnSpPr>
        <p:spPr>
          <a:xfrm>
            <a:off x="3209925" y="3612516"/>
            <a:ext cx="636908" cy="178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09D3F7-9659-44F9-B6CD-39F0AB288F22}"/>
                  </a:ext>
                </a:extLst>
              </p:cNvPr>
              <p:cNvSpPr/>
              <p:nvPr/>
            </p:nvSpPr>
            <p:spPr>
              <a:xfrm rot="875044">
                <a:off x="2139527" y="3614692"/>
                <a:ext cx="18827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09D3F7-9659-44F9-B6CD-39F0AB288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75044">
                <a:off x="2139527" y="3614692"/>
                <a:ext cx="18827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8C1E157A-31D6-4A8C-8ECF-942ABC2C3649}"/>
              </a:ext>
            </a:extLst>
          </p:cNvPr>
          <p:cNvSpPr/>
          <p:nvPr/>
        </p:nvSpPr>
        <p:spPr>
          <a:xfrm>
            <a:off x="5537067" y="332199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3C75F67-F830-4B13-ACA2-2E2AA353E1ED}"/>
              </a:ext>
            </a:extLst>
          </p:cNvPr>
          <p:cNvCxnSpPr>
            <a:stCxn id="29" idx="2"/>
            <a:endCxn id="27" idx="0"/>
          </p:cNvCxnSpPr>
          <p:nvPr/>
        </p:nvCxnSpPr>
        <p:spPr>
          <a:xfrm flipH="1">
            <a:off x="3146779" y="3344857"/>
            <a:ext cx="2390288" cy="27826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710BEA-E790-40E6-981B-9832045536C2}"/>
              </a:ext>
            </a:extLst>
          </p:cNvPr>
          <p:cNvCxnSpPr>
            <a:cxnSpLocks/>
          </p:cNvCxnSpPr>
          <p:nvPr/>
        </p:nvCxnSpPr>
        <p:spPr>
          <a:xfrm>
            <a:off x="3186581" y="3656467"/>
            <a:ext cx="1823569" cy="3726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D847D4-C301-486F-B4F4-B6D6DAA2850B}"/>
              </a:ext>
            </a:extLst>
          </p:cNvPr>
          <p:cNvCxnSpPr/>
          <p:nvPr/>
        </p:nvCxnSpPr>
        <p:spPr>
          <a:xfrm flipV="1">
            <a:off x="5582786" y="2486025"/>
            <a:ext cx="1046614" cy="78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7D4A33-A767-40AF-BF1C-D633385C664C}"/>
                  </a:ext>
                </a:extLst>
              </p:cNvPr>
              <p:cNvSpPr txBox="1"/>
              <p:nvPr/>
            </p:nvSpPr>
            <p:spPr>
              <a:xfrm>
                <a:off x="6372225" y="2157875"/>
                <a:ext cx="914546" cy="3193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7D4A33-A767-40AF-BF1C-D633385C6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25" y="2157875"/>
                <a:ext cx="914546" cy="319318"/>
              </a:xfrm>
              <a:prstGeom prst="rect">
                <a:avLst/>
              </a:prstGeom>
              <a:blipFill>
                <a:blip r:embed="rId4"/>
                <a:stretch>
                  <a:fillRect b="-26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564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55B9-1C1D-4A4D-B953-4AB1934B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Ako</a:t>
            </a:r>
            <a:r>
              <a:rPr lang="en-GB" dirty="0"/>
              <a:t> </a:t>
            </a:r>
            <a:r>
              <a:rPr lang="en-GB" dirty="0" err="1"/>
              <a:t>prer</a:t>
            </a:r>
            <a:r>
              <a:rPr lang="sk-SK" dirty="0" err="1"/>
              <a:t>átať</a:t>
            </a:r>
            <a:r>
              <a:rPr lang="sk-SK" dirty="0"/>
              <a:t> laserové meranie do globálnych súradníc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5213CC0-C49C-42F0-A28F-A579247015E5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C57DD3-2177-41B7-B526-1EC68733DA12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07B7C7-B9B5-4100-AAE2-037CF6CAA7D5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07B7C7-B9B5-4100-AAE2-037CF6CAA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E275967-D0AB-470C-A04F-651A355B2E8C}"/>
              </a:ext>
            </a:extLst>
          </p:cNvPr>
          <p:cNvSpPr/>
          <p:nvPr/>
        </p:nvSpPr>
        <p:spPr>
          <a:xfrm rot="6344213">
            <a:off x="3011697" y="3360851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FC1C63-8511-49BE-BB6C-4E0508D6EC57}"/>
              </a:ext>
            </a:extLst>
          </p:cNvPr>
          <p:cNvSpPr/>
          <p:nvPr/>
        </p:nvSpPr>
        <p:spPr>
          <a:xfrm>
            <a:off x="5582786" y="3344857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E4FD19-3B8D-4061-ADDD-D5A15A715E16}"/>
              </a:ext>
            </a:extLst>
          </p:cNvPr>
          <p:cNvCxnSpPr>
            <a:cxnSpLocks/>
          </p:cNvCxnSpPr>
          <p:nvPr/>
        </p:nvCxnSpPr>
        <p:spPr>
          <a:xfrm flipV="1">
            <a:off x="3209925" y="2939350"/>
            <a:ext cx="219075" cy="6731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DE8271-8F49-40E7-AD71-14B2850F8C03}"/>
              </a:ext>
            </a:extLst>
          </p:cNvPr>
          <p:cNvCxnSpPr>
            <a:cxnSpLocks/>
          </p:cNvCxnSpPr>
          <p:nvPr/>
        </p:nvCxnSpPr>
        <p:spPr>
          <a:xfrm>
            <a:off x="3209925" y="3612516"/>
            <a:ext cx="636908" cy="178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09D3F7-9659-44F9-B6CD-39F0AB288F22}"/>
                  </a:ext>
                </a:extLst>
              </p:cNvPr>
              <p:cNvSpPr/>
              <p:nvPr/>
            </p:nvSpPr>
            <p:spPr>
              <a:xfrm rot="875044">
                <a:off x="2139527" y="3614692"/>
                <a:ext cx="18827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09D3F7-9659-44F9-B6CD-39F0AB288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75044">
                <a:off x="2139527" y="3614692"/>
                <a:ext cx="18827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8C1E157A-31D6-4A8C-8ECF-942ABC2C3649}"/>
              </a:ext>
            </a:extLst>
          </p:cNvPr>
          <p:cNvSpPr/>
          <p:nvPr/>
        </p:nvSpPr>
        <p:spPr>
          <a:xfrm>
            <a:off x="5537067" y="332199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3C75F67-F830-4B13-ACA2-2E2AA353E1ED}"/>
              </a:ext>
            </a:extLst>
          </p:cNvPr>
          <p:cNvCxnSpPr>
            <a:stCxn id="29" idx="2"/>
            <a:endCxn id="27" idx="0"/>
          </p:cNvCxnSpPr>
          <p:nvPr/>
        </p:nvCxnSpPr>
        <p:spPr>
          <a:xfrm flipH="1">
            <a:off x="3146779" y="3344857"/>
            <a:ext cx="2390288" cy="27826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Left Brace 31">
            <a:extLst>
              <a:ext uri="{FF2B5EF4-FFF2-40B4-BE49-F238E27FC236}">
                <a16:creationId xmlns:a16="http://schemas.microsoft.com/office/drawing/2014/main" id="{5CA8E6A1-572A-4348-BD30-795A51F03640}"/>
              </a:ext>
            </a:extLst>
          </p:cNvPr>
          <p:cNvSpPr/>
          <p:nvPr/>
        </p:nvSpPr>
        <p:spPr>
          <a:xfrm rot="4912900">
            <a:off x="4143688" y="2118276"/>
            <a:ext cx="377236" cy="236845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710BEA-E790-40E6-981B-9832045536C2}"/>
              </a:ext>
            </a:extLst>
          </p:cNvPr>
          <p:cNvCxnSpPr>
            <a:stCxn id="32" idx="2"/>
          </p:cNvCxnSpPr>
          <p:nvPr/>
        </p:nvCxnSpPr>
        <p:spPr>
          <a:xfrm>
            <a:off x="3186581" y="3656467"/>
            <a:ext cx="1823569" cy="3726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Arc 34">
            <a:extLst>
              <a:ext uri="{FF2B5EF4-FFF2-40B4-BE49-F238E27FC236}">
                <a16:creationId xmlns:a16="http://schemas.microsoft.com/office/drawing/2014/main" id="{56294A65-5EDE-44BD-BF59-17FB264EA716}"/>
              </a:ext>
            </a:extLst>
          </p:cNvPr>
          <p:cNvSpPr/>
          <p:nvPr/>
        </p:nvSpPr>
        <p:spPr>
          <a:xfrm>
            <a:off x="4511718" y="3429000"/>
            <a:ext cx="265770" cy="1171569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093C668-A018-471D-99DB-4A000510064E}"/>
                  </a:ext>
                </a:extLst>
              </p:cNvPr>
              <p:cNvSpPr txBox="1"/>
              <p:nvPr/>
            </p:nvSpPr>
            <p:spPr>
              <a:xfrm rot="21268110">
                <a:off x="4098365" y="2773757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093C668-A018-471D-99DB-4A0005100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68110">
                <a:off x="4098365" y="2773757"/>
                <a:ext cx="276614" cy="276999"/>
              </a:xfrm>
              <a:prstGeom prst="rect">
                <a:avLst/>
              </a:prstGeom>
              <a:blipFill>
                <a:blip r:embed="rId4"/>
                <a:stretch>
                  <a:fillRect l="-16000" r="-8000" b="-13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D818C3-7E72-47E5-9B14-DCE38F36A0D3}"/>
                  </a:ext>
                </a:extLst>
              </p:cNvPr>
              <p:cNvSpPr txBox="1"/>
              <p:nvPr/>
            </p:nvSpPr>
            <p:spPr>
              <a:xfrm rot="21268110">
                <a:off x="4397986" y="353464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D818C3-7E72-47E5-9B14-DCE38F36A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68110">
                <a:off x="4397986" y="3534642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3922" r="-7843" b="-13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D847D4-C301-486F-B4F4-B6D6DAA2850B}"/>
              </a:ext>
            </a:extLst>
          </p:cNvPr>
          <p:cNvCxnSpPr/>
          <p:nvPr/>
        </p:nvCxnSpPr>
        <p:spPr>
          <a:xfrm flipV="1">
            <a:off x="5582786" y="2486025"/>
            <a:ext cx="1046614" cy="78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7D4A33-A767-40AF-BF1C-D633385C664C}"/>
                  </a:ext>
                </a:extLst>
              </p:cNvPr>
              <p:cNvSpPr txBox="1"/>
              <p:nvPr/>
            </p:nvSpPr>
            <p:spPr>
              <a:xfrm>
                <a:off x="6372225" y="2157875"/>
                <a:ext cx="914546" cy="3193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7D4A33-A767-40AF-BF1C-D633385C6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25" y="2157875"/>
                <a:ext cx="914546" cy="319318"/>
              </a:xfrm>
              <a:prstGeom prst="rect">
                <a:avLst/>
              </a:prstGeom>
              <a:blipFill>
                <a:blip r:embed="rId6"/>
                <a:stretch>
                  <a:fillRect b="-26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79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55B9-1C1D-4A4D-B953-4AB1934B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Ako</a:t>
            </a:r>
            <a:r>
              <a:rPr lang="en-GB" dirty="0"/>
              <a:t> </a:t>
            </a:r>
            <a:r>
              <a:rPr lang="en-GB" dirty="0" err="1"/>
              <a:t>prer</a:t>
            </a:r>
            <a:r>
              <a:rPr lang="sk-SK" dirty="0" err="1"/>
              <a:t>átať</a:t>
            </a:r>
            <a:r>
              <a:rPr lang="sk-SK" dirty="0"/>
              <a:t> laserové meranie do globálnych súradníc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5213CC0-C49C-42F0-A28F-A579247015E5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C57DD3-2177-41B7-B526-1EC68733DA12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07B7C7-B9B5-4100-AAE2-037CF6CAA7D5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07B7C7-B9B5-4100-AAE2-037CF6CAA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E275967-D0AB-470C-A04F-651A355B2E8C}"/>
              </a:ext>
            </a:extLst>
          </p:cNvPr>
          <p:cNvSpPr/>
          <p:nvPr/>
        </p:nvSpPr>
        <p:spPr>
          <a:xfrm rot="6344213">
            <a:off x="3011697" y="3360851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FC1C63-8511-49BE-BB6C-4E0508D6EC57}"/>
              </a:ext>
            </a:extLst>
          </p:cNvPr>
          <p:cNvSpPr/>
          <p:nvPr/>
        </p:nvSpPr>
        <p:spPr>
          <a:xfrm>
            <a:off x="5582786" y="3344857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E4FD19-3B8D-4061-ADDD-D5A15A715E16}"/>
              </a:ext>
            </a:extLst>
          </p:cNvPr>
          <p:cNvCxnSpPr>
            <a:cxnSpLocks/>
          </p:cNvCxnSpPr>
          <p:nvPr/>
        </p:nvCxnSpPr>
        <p:spPr>
          <a:xfrm flipV="1">
            <a:off x="3209925" y="2939350"/>
            <a:ext cx="219075" cy="6731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DE8271-8F49-40E7-AD71-14B2850F8C03}"/>
              </a:ext>
            </a:extLst>
          </p:cNvPr>
          <p:cNvCxnSpPr>
            <a:cxnSpLocks/>
          </p:cNvCxnSpPr>
          <p:nvPr/>
        </p:nvCxnSpPr>
        <p:spPr>
          <a:xfrm>
            <a:off x="3209925" y="3612516"/>
            <a:ext cx="636908" cy="178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09D3F7-9659-44F9-B6CD-39F0AB288F22}"/>
                  </a:ext>
                </a:extLst>
              </p:cNvPr>
              <p:cNvSpPr/>
              <p:nvPr/>
            </p:nvSpPr>
            <p:spPr>
              <a:xfrm rot="875044">
                <a:off x="2139527" y="3614692"/>
                <a:ext cx="18827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09D3F7-9659-44F9-B6CD-39F0AB288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75044">
                <a:off x="2139527" y="3614692"/>
                <a:ext cx="18827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8C1E157A-31D6-4A8C-8ECF-942ABC2C3649}"/>
              </a:ext>
            </a:extLst>
          </p:cNvPr>
          <p:cNvSpPr/>
          <p:nvPr/>
        </p:nvSpPr>
        <p:spPr>
          <a:xfrm>
            <a:off x="5537067" y="332199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3C75F67-F830-4B13-ACA2-2E2AA353E1ED}"/>
              </a:ext>
            </a:extLst>
          </p:cNvPr>
          <p:cNvCxnSpPr>
            <a:stCxn id="29" idx="2"/>
            <a:endCxn id="27" idx="0"/>
          </p:cNvCxnSpPr>
          <p:nvPr/>
        </p:nvCxnSpPr>
        <p:spPr>
          <a:xfrm flipH="1">
            <a:off x="3146779" y="3344857"/>
            <a:ext cx="2390288" cy="27826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Left Brace 31">
            <a:extLst>
              <a:ext uri="{FF2B5EF4-FFF2-40B4-BE49-F238E27FC236}">
                <a16:creationId xmlns:a16="http://schemas.microsoft.com/office/drawing/2014/main" id="{5CA8E6A1-572A-4348-BD30-795A51F03640}"/>
              </a:ext>
            </a:extLst>
          </p:cNvPr>
          <p:cNvSpPr/>
          <p:nvPr/>
        </p:nvSpPr>
        <p:spPr>
          <a:xfrm rot="4912900">
            <a:off x="4143688" y="2118276"/>
            <a:ext cx="377236" cy="236845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710BEA-E790-40E6-981B-9832045536C2}"/>
              </a:ext>
            </a:extLst>
          </p:cNvPr>
          <p:cNvCxnSpPr>
            <a:stCxn id="32" idx="2"/>
          </p:cNvCxnSpPr>
          <p:nvPr/>
        </p:nvCxnSpPr>
        <p:spPr>
          <a:xfrm>
            <a:off x="3186581" y="3656467"/>
            <a:ext cx="1823569" cy="3726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Arc 34">
            <a:extLst>
              <a:ext uri="{FF2B5EF4-FFF2-40B4-BE49-F238E27FC236}">
                <a16:creationId xmlns:a16="http://schemas.microsoft.com/office/drawing/2014/main" id="{56294A65-5EDE-44BD-BF59-17FB264EA716}"/>
              </a:ext>
            </a:extLst>
          </p:cNvPr>
          <p:cNvSpPr/>
          <p:nvPr/>
        </p:nvSpPr>
        <p:spPr>
          <a:xfrm>
            <a:off x="4511718" y="3429000"/>
            <a:ext cx="265770" cy="1171569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093C668-A018-471D-99DB-4A000510064E}"/>
                  </a:ext>
                </a:extLst>
              </p:cNvPr>
              <p:cNvSpPr txBox="1"/>
              <p:nvPr/>
            </p:nvSpPr>
            <p:spPr>
              <a:xfrm rot="21268110">
                <a:off x="4098365" y="2773757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093C668-A018-471D-99DB-4A0005100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68110">
                <a:off x="4098365" y="2773757"/>
                <a:ext cx="276614" cy="276999"/>
              </a:xfrm>
              <a:prstGeom prst="rect">
                <a:avLst/>
              </a:prstGeom>
              <a:blipFill>
                <a:blip r:embed="rId4"/>
                <a:stretch>
                  <a:fillRect l="-16000" r="-8000" b="-13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D818C3-7E72-47E5-9B14-DCE38F36A0D3}"/>
                  </a:ext>
                </a:extLst>
              </p:cNvPr>
              <p:cNvSpPr txBox="1"/>
              <p:nvPr/>
            </p:nvSpPr>
            <p:spPr>
              <a:xfrm rot="21268110">
                <a:off x="4397986" y="353464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FD818C3-7E72-47E5-9B14-DCE38F36A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68110">
                <a:off x="4397986" y="3534642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3922" r="-7843" b="-13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D847D4-C301-486F-B4F4-B6D6DAA2850B}"/>
              </a:ext>
            </a:extLst>
          </p:cNvPr>
          <p:cNvCxnSpPr/>
          <p:nvPr/>
        </p:nvCxnSpPr>
        <p:spPr>
          <a:xfrm flipV="1">
            <a:off x="5582786" y="2486025"/>
            <a:ext cx="1046614" cy="787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7D4A33-A767-40AF-BF1C-D633385C664C}"/>
                  </a:ext>
                </a:extLst>
              </p:cNvPr>
              <p:cNvSpPr txBox="1"/>
              <p:nvPr/>
            </p:nvSpPr>
            <p:spPr>
              <a:xfrm>
                <a:off x="6372225" y="2157875"/>
                <a:ext cx="914546" cy="3193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7D4A33-A767-40AF-BF1C-D633385C6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25" y="2157875"/>
                <a:ext cx="914546" cy="319318"/>
              </a:xfrm>
              <a:prstGeom prst="rect">
                <a:avLst/>
              </a:prstGeom>
              <a:blipFill>
                <a:blip r:embed="rId6"/>
                <a:stretch>
                  <a:fillRect b="-26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1C8556-37A7-4BDA-95A3-670212907952}"/>
                  </a:ext>
                </a:extLst>
              </p:cNvPr>
              <p:cNvSpPr txBox="1"/>
              <p:nvPr/>
            </p:nvSpPr>
            <p:spPr>
              <a:xfrm>
                <a:off x="7105046" y="3623121"/>
                <a:ext cx="2759666" cy="620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𝑔𝑖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sk-SK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𝑔𝑖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sk-SK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mr>
                      </m:m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1C8556-37A7-4BDA-95A3-670212907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046" y="3623121"/>
                <a:ext cx="2759666" cy="6201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4437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4A0C14-2AEF-4541-ADF7-78BC74CEFBD3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111740"/>
              </p:ext>
            </p:extLst>
          </p:nvPr>
        </p:nvGraphicFramePr>
        <p:xfrm>
          <a:off x="2038525" y="1489753"/>
          <a:ext cx="6671200" cy="3954700"/>
        </p:xfrm>
        <a:graphic>
          <a:graphicData uri="http://schemas.openxmlformats.org/drawingml/2006/table">
            <a:tbl>
              <a:tblPr/>
              <a:tblGrid>
                <a:gridCol w="222373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960246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1197292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21659252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890492881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7671581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43454507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664134162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5040064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3610691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23727034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5661380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5805624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2632817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798569384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2313964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54849205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19104859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1856556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91505298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995549800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04340292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0166240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3734767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31903373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1166134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2810574026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30870653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730069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2504818"/>
                    </a:ext>
                  </a:extLst>
                </a:gridCol>
              </a:tblGrid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540302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80504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40193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6943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0740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48134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5933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5192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67122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07724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9167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16312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2476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8108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 prerátaní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5D6646F-B5C8-40C9-ADB2-039E9CDC9415}"/>
              </a:ext>
            </a:extLst>
          </p:cNvPr>
          <p:cNvSpPr/>
          <p:nvPr/>
        </p:nvSpPr>
        <p:spPr>
          <a:xfrm rot="3323297">
            <a:off x="5243117" y="2794612"/>
            <a:ext cx="562060" cy="503331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09C74A-2D89-475F-8227-EB2C43E45628}"/>
              </a:ext>
            </a:extLst>
          </p:cNvPr>
          <p:cNvSpPr/>
          <p:nvPr/>
        </p:nvSpPr>
        <p:spPr>
          <a:xfrm>
            <a:off x="4436664" y="179093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6ED591-5BC1-485E-A6B5-D67ED5B59B22}"/>
              </a:ext>
            </a:extLst>
          </p:cNvPr>
          <p:cNvSpPr/>
          <p:nvPr/>
        </p:nvSpPr>
        <p:spPr>
          <a:xfrm>
            <a:off x="6614845" y="2557978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274375-47E9-46F0-BB00-3ABF1D1E25C8}"/>
              </a:ext>
            </a:extLst>
          </p:cNvPr>
          <p:cNvSpPr/>
          <p:nvPr/>
        </p:nvSpPr>
        <p:spPr>
          <a:xfrm>
            <a:off x="6569126" y="271642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51B822B-E224-48C5-B3D2-626F29048119}"/>
              </a:ext>
            </a:extLst>
          </p:cNvPr>
          <p:cNvSpPr/>
          <p:nvPr/>
        </p:nvSpPr>
        <p:spPr>
          <a:xfrm>
            <a:off x="6429310" y="289166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EAD91B-2057-4CE4-888D-BD21065A64E3}"/>
              </a:ext>
            </a:extLst>
          </p:cNvPr>
          <p:cNvSpPr/>
          <p:nvPr/>
        </p:nvSpPr>
        <p:spPr>
          <a:xfrm>
            <a:off x="6440502" y="316595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E763B95-41CE-4CE3-BBC6-5307A3674558}"/>
              </a:ext>
            </a:extLst>
          </p:cNvPr>
          <p:cNvSpPr/>
          <p:nvPr/>
        </p:nvSpPr>
        <p:spPr>
          <a:xfrm>
            <a:off x="6546266" y="3397660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C0B30B-06D3-4914-B511-EDAE07323367}"/>
              </a:ext>
            </a:extLst>
          </p:cNvPr>
          <p:cNvSpPr/>
          <p:nvPr/>
        </p:nvSpPr>
        <p:spPr>
          <a:xfrm>
            <a:off x="4305834" y="459488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DC7C1B-3A77-4047-90BD-1DBDF68B108D}"/>
              </a:ext>
            </a:extLst>
          </p:cNvPr>
          <p:cNvSpPr/>
          <p:nvPr/>
        </p:nvSpPr>
        <p:spPr>
          <a:xfrm>
            <a:off x="4305834" y="440404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9ABDCB-C445-4F3A-A8CB-6B61664FD7BC}"/>
              </a:ext>
            </a:extLst>
          </p:cNvPr>
          <p:cNvSpPr/>
          <p:nvPr/>
        </p:nvSpPr>
        <p:spPr>
          <a:xfrm>
            <a:off x="4336907" y="416744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198425-F45C-461D-9E98-53E1C73CEC0B}"/>
              </a:ext>
            </a:extLst>
          </p:cNvPr>
          <p:cNvSpPr/>
          <p:nvPr/>
        </p:nvSpPr>
        <p:spPr>
          <a:xfrm>
            <a:off x="4262746" y="396841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A615CB2-0B0F-4215-AED6-C20346F1901C}"/>
              </a:ext>
            </a:extLst>
          </p:cNvPr>
          <p:cNvSpPr/>
          <p:nvPr/>
        </p:nvSpPr>
        <p:spPr>
          <a:xfrm>
            <a:off x="4302772" y="378466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F9A940-B317-41D9-B184-7DFAEFF18B7B}"/>
              </a:ext>
            </a:extLst>
          </p:cNvPr>
          <p:cNvSpPr/>
          <p:nvPr/>
        </p:nvSpPr>
        <p:spPr>
          <a:xfrm>
            <a:off x="4336906" y="363116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DF9AD87-1CAC-40EB-922C-214BD040A4FF}"/>
              </a:ext>
            </a:extLst>
          </p:cNvPr>
          <p:cNvSpPr/>
          <p:nvPr/>
        </p:nvSpPr>
        <p:spPr>
          <a:xfrm>
            <a:off x="4319894" y="346318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0DEEF2-02DC-43A1-B9E0-2CC95B9DAE9E}"/>
              </a:ext>
            </a:extLst>
          </p:cNvPr>
          <p:cNvSpPr/>
          <p:nvPr/>
        </p:nvSpPr>
        <p:spPr>
          <a:xfrm>
            <a:off x="4062353" y="346318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93FA34-C6CA-4E08-A462-49B7AA8B30AF}"/>
              </a:ext>
            </a:extLst>
          </p:cNvPr>
          <p:cNvSpPr/>
          <p:nvPr/>
        </p:nvSpPr>
        <p:spPr>
          <a:xfrm>
            <a:off x="3685266" y="345479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99386D3-5977-4B3E-91A7-AABD7F983DED}"/>
              </a:ext>
            </a:extLst>
          </p:cNvPr>
          <p:cNvSpPr/>
          <p:nvPr/>
        </p:nvSpPr>
        <p:spPr>
          <a:xfrm>
            <a:off x="4390945" y="216613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D98137-1951-4157-A668-D935D3ADFC7E}"/>
              </a:ext>
            </a:extLst>
          </p:cNvPr>
          <p:cNvSpPr/>
          <p:nvPr/>
        </p:nvSpPr>
        <p:spPr>
          <a:xfrm>
            <a:off x="4129160" y="217502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DE7AD4B-28C7-4616-A245-2AABAA7A550E}"/>
              </a:ext>
            </a:extLst>
          </p:cNvPr>
          <p:cNvSpPr/>
          <p:nvPr/>
        </p:nvSpPr>
        <p:spPr>
          <a:xfrm>
            <a:off x="3867375" y="222992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010FD17-87D2-4621-A860-30B00B220B15}"/>
              </a:ext>
            </a:extLst>
          </p:cNvPr>
          <p:cNvSpPr/>
          <p:nvPr/>
        </p:nvSpPr>
        <p:spPr>
          <a:xfrm>
            <a:off x="3614915" y="218341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59BB60F-3D78-41B5-A197-4D077922DFD3}"/>
              </a:ext>
            </a:extLst>
          </p:cNvPr>
          <p:cNvSpPr/>
          <p:nvPr/>
        </p:nvSpPr>
        <p:spPr>
          <a:xfrm>
            <a:off x="4442512" y="202640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123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4A0C14-2AEF-4541-ADF7-78BC74CEFBD3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454304"/>
              </p:ext>
            </p:extLst>
          </p:nvPr>
        </p:nvGraphicFramePr>
        <p:xfrm>
          <a:off x="2038525" y="1489753"/>
          <a:ext cx="6671200" cy="3954700"/>
        </p:xfrm>
        <a:graphic>
          <a:graphicData uri="http://schemas.openxmlformats.org/drawingml/2006/table">
            <a:tbl>
              <a:tblPr/>
              <a:tblGrid>
                <a:gridCol w="222373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960246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1197292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21659252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890492881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7671581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43454507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664134162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5040064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3610691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23727034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5661380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5805624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2632817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798569384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2313964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54849205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19104859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1856556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91505298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995549800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04340292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0166240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3734767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31903373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1166134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2810574026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30870653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730069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2504818"/>
                    </a:ext>
                  </a:extLst>
                </a:gridCol>
              </a:tblGrid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540302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80504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40193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6943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0740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48134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5933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5192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67122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07724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9167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16312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2476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8108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 prerátaní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D5CE7C4-485D-4A2A-9A97-CC08C0362E00}"/>
              </a:ext>
            </a:extLst>
          </p:cNvPr>
          <p:cNvSpPr/>
          <p:nvPr/>
        </p:nvSpPr>
        <p:spPr>
          <a:xfrm rot="7882388">
            <a:off x="2285246" y="3388225"/>
            <a:ext cx="562060" cy="503331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8DCF56-A8FB-46AB-9C80-4B94121250A5}"/>
              </a:ext>
            </a:extLst>
          </p:cNvPr>
          <p:cNvSpPr/>
          <p:nvPr/>
        </p:nvSpPr>
        <p:spPr>
          <a:xfrm>
            <a:off x="3596404" y="476818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AE4D55-3251-4819-98CF-3DC6EA502B55}"/>
              </a:ext>
            </a:extLst>
          </p:cNvPr>
          <p:cNvSpPr/>
          <p:nvPr/>
        </p:nvSpPr>
        <p:spPr>
          <a:xfrm>
            <a:off x="3649210" y="454916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2E0309-5D49-4CE8-84DE-B55020B3ECF5}"/>
              </a:ext>
            </a:extLst>
          </p:cNvPr>
          <p:cNvSpPr/>
          <p:nvPr/>
        </p:nvSpPr>
        <p:spPr>
          <a:xfrm>
            <a:off x="3551218" y="418875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728259-56AC-428E-868B-F72E8755ED35}"/>
              </a:ext>
            </a:extLst>
          </p:cNvPr>
          <p:cNvSpPr/>
          <p:nvPr/>
        </p:nvSpPr>
        <p:spPr>
          <a:xfrm>
            <a:off x="3626351" y="394464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585BAD-57A3-4B54-95CC-FB77DFFA961B}"/>
              </a:ext>
            </a:extLst>
          </p:cNvPr>
          <p:cNvSpPr/>
          <p:nvPr/>
        </p:nvSpPr>
        <p:spPr>
          <a:xfrm>
            <a:off x="3596404" y="364730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41B1BA-AC72-46E3-A5D5-CCCEF7EC2DB5}"/>
              </a:ext>
            </a:extLst>
          </p:cNvPr>
          <p:cNvSpPr/>
          <p:nvPr/>
        </p:nvSpPr>
        <p:spPr>
          <a:xfrm>
            <a:off x="3619798" y="345884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EEEB69-DAAA-4B1F-BAF3-2B97D8E3E5C8}"/>
              </a:ext>
            </a:extLst>
          </p:cNvPr>
          <p:cNvSpPr/>
          <p:nvPr/>
        </p:nvSpPr>
        <p:spPr>
          <a:xfrm>
            <a:off x="2490057" y="2083709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C369AC-DBAD-4FF9-939F-7F5A7E9147ED}"/>
              </a:ext>
            </a:extLst>
          </p:cNvPr>
          <p:cNvSpPr/>
          <p:nvPr/>
        </p:nvSpPr>
        <p:spPr>
          <a:xfrm>
            <a:off x="2757489" y="208800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86A5E3-1E8B-4CC8-AE98-DAC43937C214}"/>
              </a:ext>
            </a:extLst>
          </p:cNvPr>
          <p:cNvSpPr/>
          <p:nvPr/>
        </p:nvSpPr>
        <p:spPr>
          <a:xfrm>
            <a:off x="2995194" y="221138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6190B62-E570-41C6-9D15-83E2F9836490}"/>
              </a:ext>
            </a:extLst>
          </p:cNvPr>
          <p:cNvSpPr/>
          <p:nvPr/>
        </p:nvSpPr>
        <p:spPr>
          <a:xfrm>
            <a:off x="3293106" y="2175410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1208445-9ECA-4BB7-9AEF-9DF2632F3A42}"/>
              </a:ext>
            </a:extLst>
          </p:cNvPr>
          <p:cNvSpPr/>
          <p:nvPr/>
        </p:nvSpPr>
        <p:spPr>
          <a:xfrm>
            <a:off x="3551218" y="217970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04FE680-0EB8-4FBC-B566-C7F81B2F36B4}"/>
              </a:ext>
            </a:extLst>
          </p:cNvPr>
          <p:cNvSpPr/>
          <p:nvPr/>
        </p:nvSpPr>
        <p:spPr>
          <a:xfrm>
            <a:off x="3695462" y="2172468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5B0828-45F4-4404-AE0C-0A90DC3DEED4}"/>
              </a:ext>
            </a:extLst>
          </p:cNvPr>
          <p:cNvSpPr/>
          <p:nvPr/>
        </p:nvSpPr>
        <p:spPr>
          <a:xfrm>
            <a:off x="3943233" y="209562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45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4A0C14-2AEF-4541-ADF7-78BC74CEFBD3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930568"/>
              </p:ext>
            </p:extLst>
          </p:nvPr>
        </p:nvGraphicFramePr>
        <p:xfrm>
          <a:off x="2038525" y="1489753"/>
          <a:ext cx="6671200" cy="3954700"/>
        </p:xfrm>
        <a:graphic>
          <a:graphicData uri="http://schemas.openxmlformats.org/drawingml/2006/table">
            <a:tbl>
              <a:tblPr/>
              <a:tblGrid>
                <a:gridCol w="222373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960246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1197292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21659252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890492881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7671581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43454507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664134162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5040064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3610691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23727034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5661380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5805624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2632817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798569384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2313964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54849205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19104859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1856556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91505298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995549800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04340292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0166240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3734767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31903373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1166134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2810574026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30870653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730069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2504818"/>
                    </a:ext>
                  </a:extLst>
                </a:gridCol>
              </a:tblGrid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540302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80504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40193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6943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0740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48134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5933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5192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67122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07724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9167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16312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2476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8108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0148"/>
          </a:xfrm>
        </p:spPr>
        <p:txBody>
          <a:bodyPr/>
          <a:lstStyle/>
          <a:p>
            <a:r>
              <a:rPr lang="sk-SK" dirty="0"/>
              <a:t>Spolu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D5CE7C4-485D-4A2A-9A97-CC08C0362E00}"/>
              </a:ext>
            </a:extLst>
          </p:cNvPr>
          <p:cNvSpPr/>
          <p:nvPr/>
        </p:nvSpPr>
        <p:spPr>
          <a:xfrm rot="7882388">
            <a:off x="2285246" y="3388225"/>
            <a:ext cx="562060" cy="503331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6938ECB-E4D1-4317-A6EA-6416F9E54423}"/>
              </a:ext>
            </a:extLst>
          </p:cNvPr>
          <p:cNvSpPr/>
          <p:nvPr/>
        </p:nvSpPr>
        <p:spPr>
          <a:xfrm rot="3323297">
            <a:off x="5243117" y="2794612"/>
            <a:ext cx="562060" cy="503331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0918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B28C9919-D5B7-491E-AE3C-0B68BF276C3B}"/>
              </a:ext>
            </a:extLst>
          </p:cNvPr>
          <p:cNvSpPr/>
          <p:nvPr/>
        </p:nvSpPr>
        <p:spPr>
          <a:xfrm>
            <a:off x="2630184" y="1736333"/>
            <a:ext cx="1808252" cy="424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4A0C14-2AEF-4541-ADF7-78BC74CEFBD3}"/>
              </a:ext>
            </a:extLst>
          </p:cNvPr>
          <p:cNvSpPr/>
          <p:nvPr/>
        </p:nvSpPr>
        <p:spPr>
          <a:xfrm>
            <a:off x="6452171" y="2445249"/>
            <a:ext cx="1202056" cy="1202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883B33-0309-4967-BD98-12276212F711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65284-80C1-4D50-A5FC-DFD0E4BF9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427898"/>
              </p:ext>
            </p:extLst>
          </p:nvPr>
        </p:nvGraphicFramePr>
        <p:xfrm>
          <a:off x="2038525" y="1489753"/>
          <a:ext cx="6671200" cy="3954700"/>
        </p:xfrm>
        <a:graphic>
          <a:graphicData uri="http://schemas.openxmlformats.org/drawingml/2006/table">
            <a:tbl>
              <a:tblPr/>
              <a:tblGrid>
                <a:gridCol w="222373">
                  <a:extLst>
                    <a:ext uri="{9D8B030D-6E8A-4147-A177-3AD203B41FA5}">
                      <a16:colId xmlns:a16="http://schemas.microsoft.com/office/drawing/2014/main" val="48180647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960246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1197292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21659252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890492881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7671581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43454507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664134162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5040064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73610691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823727034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5661380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5805624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2632817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798569384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23139644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54849205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119104859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1856556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3915052985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995549800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1043402929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016624057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537347672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31903373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4116613417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2810574026"/>
                    </a:ext>
                  </a:extLst>
                </a:gridCol>
                <a:gridCol w="222374">
                  <a:extLst>
                    <a:ext uri="{9D8B030D-6E8A-4147-A177-3AD203B41FA5}">
                      <a16:colId xmlns:a16="http://schemas.microsoft.com/office/drawing/2014/main" val="3308706536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273006910"/>
                    </a:ext>
                  </a:extLst>
                </a:gridCol>
                <a:gridCol w="222373">
                  <a:extLst>
                    <a:ext uri="{9D8B030D-6E8A-4147-A177-3AD203B41FA5}">
                      <a16:colId xmlns:a16="http://schemas.microsoft.com/office/drawing/2014/main" val="62504818"/>
                    </a:ext>
                  </a:extLst>
                </a:gridCol>
              </a:tblGrid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339406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540302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80504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40193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6943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0740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48134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59330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5192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671227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077247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91674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163122"/>
                  </a:ext>
                </a:extLst>
              </a:tr>
              <a:tr h="263646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24769"/>
                  </a:ext>
                </a:extLst>
              </a:tr>
              <a:tr h="263647"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8108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5D020F-61D7-4A39-8BEF-D49849C3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0148"/>
          </a:xfrm>
        </p:spPr>
        <p:txBody>
          <a:bodyPr/>
          <a:lstStyle/>
          <a:p>
            <a:r>
              <a:rPr lang="sk-SK" dirty="0"/>
              <a:t>A z veľa iných pozícií</a:t>
            </a:r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1678F7-529A-4CA5-95AD-B0B8F7DAF9E2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019AEA-0F70-4954-A8E9-7ABEE8939F0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ADCAD9-3521-47C1-9A33-9466CB6CB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EBBFE0-4884-4FEA-B7DF-87BE2273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279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A3BB-0CD8-A7C9-935D-27F357CF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Časová synchronizácia a pohyb robota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F3A39-D9D4-9687-F330-2DAD7D94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Otáčka </a:t>
            </a:r>
            <a:r>
              <a:rPr lang="sk-SK" dirty="0" err="1"/>
              <a:t>lidaru</a:t>
            </a:r>
            <a:r>
              <a:rPr lang="sk-SK" dirty="0"/>
              <a:t> trvá 70-200ms (podľa PWM) </a:t>
            </a:r>
          </a:p>
          <a:p>
            <a:r>
              <a:rPr lang="sk-SK" dirty="0"/>
              <a:t>Dáta chodia asynchrónne cez UDP – premenlivé oneskorenie</a:t>
            </a:r>
          </a:p>
          <a:p>
            <a:r>
              <a:rPr lang="sk-SK" dirty="0"/>
              <a:t>Robot sa hýbe</a:t>
            </a:r>
          </a:p>
          <a:p>
            <a:r>
              <a:rPr lang="sk-SK" dirty="0"/>
              <a:t>Pri priradení </a:t>
            </a:r>
            <a:r>
              <a:rPr lang="sk-SK" dirty="0" err="1"/>
              <a:t>lidarových</a:t>
            </a:r>
            <a:r>
              <a:rPr lang="sk-SK" dirty="0"/>
              <a:t> dát k poslednej polohe robota dochádza k skresleniu</a:t>
            </a:r>
          </a:p>
          <a:p>
            <a:endParaRPr lang="sk-SK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DD40B6B-6A13-9383-6369-BDB0AA7E4746}"/>
              </a:ext>
            </a:extLst>
          </p:cNvPr>
          <p:cNvSpPr/>
          <p:nvPr/>
        </p:nvSpPr>
        <p:spPr>
          <a:xfrm rot="5400000">
            <a:off x="1072022" y="4744883"/>
            <a:ext cx="562060" cy="503331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42566B3-4D0D-6396-DF41-FFA015A96683}"/>
              </a:ext>
            </a:extLst>
          </p:cNvPr>
          <p:cNvSpPr/>
          <p:nvPr/>
        </p:nvSpPr>
        <p:spPr>
          <a:xfrm rot="5400000">
            <a:off x="1690441" y="4744883"/>
            <a:ext cx="562060" cy="503331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84FF9A-A8AC-D9CC-92CA-1069C20729DA}"/>
              </a:ext>
            </a:extLst>
          </p:cNvPr>
          <p:cNvSpPr/>
          <p:nvPr/>
        </p:nvSpPr>
        <p:spPr>
          <a:xfrm>
            <a:off x="3228056" y="4151104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A1267A-F612-8CF8-90D9-20D52521600F}"/>
              </a:ext>
            </a:extLst>
          </p:cNvPr>
          <p:cNvCxnSpPr/>
          <p:nvPr/>
        </p:nvCxnSpPr>
        <p:spPr>
          <a:xfrm>
            <a:off x="1190269" y="4572000"/>
            <a:ext cx="781202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47F0E7A-6B5E-1F5B-E42B-530D2C466C6B}"/>
              </a:ext>
            </a:extLst>
          </p:cNvPr>
          <p:cNvSpPr/>
          <p:nvPr/>
        </p:nvSpPr>
        <p:spPr>
          <a:xfrm>
            <a:off x="3236288" y="4219786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07217C-4245-4D89-59ED-E5A664875655}"/>
              </a:ext>
            </a:extLst>
          </p:cNvPr>
          <p:cNvSpPr/>
          <p:nvPr/>
        </p:nvSpPr>
        <p:spPr>
          <a:xfrm>
            <a:off x="3201162" y="4419156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A11C1B-E684-1DB8-C981-D83F6BD51167}"/>
              </a:ext>
            </a:extLst>
          </p:cNvPr>
          <p:cNvSpPr/>
          <p:nvPr/>
        </p:nvSpPr>
        <p:spPr>
          <a:xfrm>
            <a:off x="3187715" y="4569107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F572B2-F414-E97F-BC19-A59FBC788DE6}"/>
              </a:ext>
            </a:extLst>
          </p:cNvPr>
          <p:cNvSpPr/>
          <p:nvPr/>
        </p:nvSpPr>
        <p:spPr>
          <a:xfrm>
            <a:off x="3209394" y="4715518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0FD5D7-7C6E-8F04-3734-B8CD14519CE1}"/>
              </a:ext>
            </a:extLst>
          </p:cNvPr>
          <p:cNvSpPr/>
          <p:nvPr/>
        </p:nvSpPr>
        <p:spPr>
          <a:xfrm>
            <a:off x="3160821" y="4808236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B48DCF-A77C-5FCA-CC57-3E200EEBFEE9}"/>
              </a:ext>
            </a:extLst>
          </p:cNvPr>
          <p:cNvSpPr/>
          <p:nvPr/>
        </p:nvSpPr>
        <p:spPr>
          <a:xfrm>
            <a:off x="3514009" y="4942760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6DE92A-7179-9519-CF8C-6FCBC00A9795}"/>
              </a:ext>
            </a:extLst>
          </p:cNvPr>
          <p:cNvSpPr/>
          <p:nvPr/>
        </p:nvSpPr>
        <p:spPr>
          <a:xfrm>
            <a:off x="3460221" y="5075364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C57E21-E2F7-15C9-8669-434A627F4585}"/>
              </a:ext>
            </a:extLst>
          </p:cNvPr>
          <p:cNvSpPr/>
          <p:nvPr/>
        </p:nvSpPr>
        <p:spPr>
          <a:xfrm>
            <a:off x="3483395" y="5250685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FD05D7-91A0-E004-1631-5F3A011225CA}"/>
              </a:ext>
            </a:extLst>
          </p:cNvPr>
          <p:cNvSpPr/>
          <p:nvPr/>
        </p:nvSpPr>
        <p:spPr>
          <a:xfrm>
            <a:off x="3433327" y="5383337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36643A-EFF0-EA9A-26FA-1C49BC070ABB}"/>
              </a:ext>
            </a:extLst>
          </p:cNvPr>
          <p:cNvSpPr/>
          <p:nvPr/>
        </p:nvSpPr>
        <p:spPr>
          <a:xfrm>
            <a:off x="3429607" y="5558876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E55268-450A-C68D-EBC6-A0C7B7A6FCB0}"/>
              </a:ext>
            </a:extLst>
          </p:cNvPr>
          <p:cNvSpPr/>
          <p:nvPr/>
        </p:nvSpPr>
        <p:spPr>
          <a:xfrm>
            <a:off x="3369111" y="5701554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751F85-79F6-CC30-91BE-0C8AC08C2E3C}"/>
              </a:ext>
            </a:extLst>
          </p:cNvPr>
          <p:cNvSpPr/>
          <p:nvPr/>
        </p:nvSpPr>
        <p:spPr>
          <a:xfrm>
            <a:off x="3389297" y="5815098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2B5FFFA-99BD-8A1B-252D-3C303FCA084D}"/>
              </a:ext>
            </a:extLst>
          </p:cNvPr>
          <p:cNvSpPr/>
          <p:nvPr/>
        </p:nvSpPr>
        <p:spPr>
          <a:xfrm rot="5400000">
            <a:off x="7206871" y="4793051"/>
            <a:ext cx="562060" cy="503331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D58924EE-BD0B-3018-7C14-599E40C96E42}"/>
              </a:ext>
            </a:extLst>
          </p:cNvPr>
          <p:cNvSpPr/>
          <p:nvPr/>
        </p:nvSpPr>
        <p:spPr>
          <a:xfrm rot="21052529">
            <a:off x="7145267" y="4737644"/>
            <a:ext cx="562060" cy="503331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0CF85541-FA0D-FB6F-B103-CF2AE57AAF74}"/>
              </a:ext>
            </a:extLst>
          </p:cNvPr>
          <p:cNvSpPr/>
          <p:nvPr/>
        </p:nvSpPr>
        <p:spPr>
          <a:xfrm flipH="1">
            <a:off x="7022955" y="4550639"/>
            <a:ext cx="679482" cy="358671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D7C203-3AAE-5E5E-F5E9-D4DC7D3E58F2}"/>
              </a:ext>
            </a:extLst>
          </p:cNvPr>
          <p:cNvSpPr/>
          <p:nvPr/>
        </p:nvSpPr>
        <p:spPr>
          <a:xfrm>
            <a:off x="8409176" y="4177998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AF8A71B-6C36-4D97-7450-2DDDFCF8F248}"/>
              </a:ext>
            </a:extLst>
          </p:cNvPr>
          <p:cNvSpPr/>
          <p:nvPr/>
        </p:nvSpPr>
        <p:spPr>
          <a:xfrm>
            <a:off x="8386396" y="4909310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058F47-C731-7039-195B-AD80F9F12E8F}"/>
              </a:ext>
            </a:extLst>
          </p:cNvPr>
          <p:cNvSpPr/>
          <p:nvPr/>
        </p:nvSpPr>
        <p:spPr>
          <a:xfrm>
            <a:off x="8341038" y="4703080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C26C554-2B39-E79F-53B8-081C4AEA4693}"/>
              </a:ext>
            </a:extLst>
          </p:cNvPr>
          <p:cNvSpPr/>
          <p:nvPr/>
        </p:nvSpPr>
        <p:spPr>
          <a:xfrm>
            <a:off x="8284464" y="4472944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A2FE487-A75A-3731-D0CB-9EA071B90783}"/>
              </a:ext>
            </a:extLst>
          </p:cNvPr>
          <p:cNvSpPr/>
          <p:nvPr/>
        </p:nvSpPr>
        <p:spPr>
          <a:xfrm>
            <a:off x="8170044" y="4279633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F5DB206-865E-6FAD-2A36-F925090F86A2}"/>
              </a:ext>
            </a:extLst>
          </p:cNvPr>
          <p:cNvSpPr/>
          <p:nvPr/>
        </p:nvSpPr>
        <p:spPr>
          <a:xfrm>
            <a:off x="8057081" y="4100975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E28ECE0-206B-AB26-5527-0066B575C69C}"/>
              </a:ext>
            </a:extLst>
          </p:cNvPr>
          <p:cNvSpPr/>
          <p:nvPr/>
        </p:nvSpPr>
        <p:spPr>
          <a:xfrm>
            <a:off x="8378168" y="5155974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A9DDE0F-2333-608C-1B8B-FAA0578524AF}"/>
              </a:ext>
            </a:extLst>
          </p:cNvPr>
          <p:cNvSpPr/>
          <p:nvPr/>
        </p:nvSpPr>
        <p:spPr>
          <a:xfrm>
            <a:off x="8296658" y="5375491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131A371-281F-6D0D-AA7D-D26580B35F2C}"/>
              </a:ext>
            </a:extLst>
          </p:cNvPr>
          <p:cNvSpPr/>
          <p:nvPr/>
        </p:nvSpPr>
        <p:spPr>
          <a:xfrm>
            <a:off x="8246496" y="5558876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F3E137D-F4AC-BEF8-E4E4-8E4674771B14}"/>
              </a:ext>
            </a:extLst>
          </p:cNvPr>
          <p:cNvSpPr/>
          <p:nvPr/>
        </p:nvSpPr>
        <p:spPr>
          <a:xfrm>
            <a:off x="8179647" y="5728448"/>
            <a:ext cx="53788" cy="5378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3735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B7F3-D3DE-A026-F192-B55F2CD0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Časová synchronizácia a pohyb robota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54F9C-4EB4-2F33-43FC-D7D9BC554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Polohu pre robot treba pre každý bod interpolovať v čase</a:t>
            </a:r>
          </a:p>
          <a:p>
            <a:endParaRPr lang="sk-SK" dirty="0"/>
          </a:p>
          <a:p>
            <a:pPr marL="0" indent="0">
              <a:buNone/>
            </a:pPr>
            <a:endParaRPr lang="sk-SK" dirty="0"/>
          </a:p>
          <a:p>
            <a:r>
              <a:rPr lang="sk-SK" dirty="0"/>
              <a:t>Každý bod </a:t>
            </a:r>
            <a:r>
              <a:rPr lang="sk-SK" dirty="0" err="1"/>
              <a:t>lidar</a:t>
            </a:r>
            <a:r>
              <a:rPr lang="sk-SK" dirty="0"/>
              <a:t>-u má </a:t>
            </a:r>
            <a:r>
              <a:rPr lang="sk-SK" dirty="0" err="1"/>
              <a:t>timestamp</a:t>
            </a:r>
            <a:r>
              <a:rPr lang="sk-SK" dirty="0"/>
              <a:t> a každá štruktúra robota má </a:t>
            </a:r>
            <a:r>
              <a:rPr lang="sk-SK" dirty="0" err="1"/>
              <a:t>timestamp</a:t>
            </a:r>
            <a:endParaRPr lang="sk-SK" dirty="0"/>
          </a:p>
          <a:p>
            <a:pPr lvl="1"/>
            <a:r>
              <a:rPr lang="sk-SK" dirty="0" err="1"/>
              <a:t>Mikrosekundy</a:t>
            </a:r>
            <a:r>
              <a:rPr lang="sk-SK" dirty="0"/>
              <a:t> od začiatku hodiny (0 – 3 600 000 000)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1FC870-AFDA-7450-7996-3CE0E411BD87}"/>
                  </a:ext>
                </a:extLst>
              </p:cNvPr>
              <p:cNvSpPr txBox="1"/>
              <p:nvPr/>
            </p:nvSpPr>
            <p:spPr>
              <a:xfrm>
                <a:off x="3190458" y="2571262"/>
                <a:ext cx="2759666" cy="620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𝑔𝑖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sk-SK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𝑔𝑖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sk-SK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mr>
                      </m:m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1FC870-AFDA-7450-7996-3CE0E411B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458" y="2571262"/>
                <a:ext cx="2759666" cy="6201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FC935DA3-DD62-A282-C8F1-F6BAEDBF8177}"/>
              </a:ext>
            </a:extLst>
          </p:cNvPr>
          <p:cNvGrpSpPr/>
          <p:nvPr/>
        </p:nvGrpSpPr>
        <p:grpSpPr>
          <a:xfrm>
            <a:off x="1531970" y="4100975"/>
            <a:ext cx="7222792" cy="2454186"/>
            <a:chOff x="677334" y="4493078"/>
            <a:chExt cx="7222792" cy="245418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9AB79A-B69F-081C-B7C0-B0534F9DAAA2}"/>
                </a:ext>
              </a:extLst>
            </p:cNvPr>
            <p:cNvSpPr txBox="1"/>
            <p:nvPr/>
          </p:nvSpPr>
          <p:spPr>
            <a:xfrm>
              <a:off x="1462019" y="4537352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k-SK" dirty="0"/>
                <a:t>p1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EB8696-26E7-AFB5-BA74-FB6C7B10398C}"/>
                </a:ext>
              </a:extLst>
            </p:cNvPr>
            <p:cNvSpPr txBox="1"/>
            <p:nvPr/>
          </p:nvSpPr>
          <p:spPr>
            <a:xfrm>
              <a:off x="2214334" y="4534923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k-SK" dirty="0"/>
                <a:t>p3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1B60A55-40DF-F678-7BF8-066BEBD92C16}"/>
                </a:ext>
              </a:extLst>
            </p:cNvPr>
            <p:cNvSpPr txBox="1"/>
            <p:nvPr/>
          </p:nvSpPr>
          <p:spPr>
            <a:xfrm>
              <a:off x="7140012" y="4493078"/>
              <a:ext cx="439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k-SK" dirty="0" err="1"/>
                <a:t>pn</a:t>
              </a:r>
              <a:endParaRPr lang="sk-SK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830270F-9027-4184-5FA3-67181C2B44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265" y="5824071"/>
              <a:ext cx="0" cy="112319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733C31-6535-D736-AD91-B965F72732B3}"/>
                </a:ext>
              </a:extLst>
            </p:cNvPr>
            <p:cNvSpPr txBox="1"/>
            <p:nvPr/>
          </p:nvSpPr>
          <p:spPr>
            <a:xfrm>
              <a:off x="7579556" y="6548175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k-SK" dirty="0"/>
                <a:t>t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C34A02B-B5A9-C855-39FF-79328FED8747}"/>
                </a:ext>
              </a:extLst>
            </p:cNvPr>
            <p:cNvGrpSpPr/>
            <p:nvPr/>
          </p:nvGrpSpPr>
          <p:grpSpPr>
            <a:xfrm>
              <a:off x="677334" y="4543420"/>
              <a:ext cx="7222792" cy="2051506"/>
              <a:chOff x="677334" y="4543420"/>
              <a:chExt cx="7222792" cy="2051506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66EC5B86-CA24-9DB2-DA68-C4FC6F4949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317" y="5432503"/>
                <a:ext cx="7155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5D6F897B-1698-DFD0-80A0-B8DB09F865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8266" y="4661648"/>
                <a:ext cx="0" cy="11231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2D3EF3-B615-E6E5-FACD-18CEDA2EF964}"/>
                  </a:ext>
                </a:extLst>
              </p:cNvPr>
              <p:cNvSpPr txBox="1"/>
              <p:nvPr/>
            </p:nvSpPr>
            <p:spPr>
              <a:xfrm>
                <a:off x="7572188" y="5432503"/>
                <a:ext cx="276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t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9FBDA3-D58C-7EFB-2544-CA00864E68CB}"/>
                  </a:ext>
                </a:extLst>
              </p:cNvPr>
              <p:cNvSpPr txBox="1"/>
              <p:nvPr/>
            </p:nvSpPr>
            <p:spPr>
              <a:xfrm rot="16200000">
                <a:off x="491546" y="4847436"/>
                <a:ext cx="740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robot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2D95BBF-53F7-7743-136B-FD89B3B80B99}"/>
                  </a:ext>
                </a:extLst>
              </p:cNvPr>
              <p:cNvSpPr/>
              <p:nvPr/>
            </p:nvSpPr>
            <p:spPr>
              <a:xfrm>
                <a:off x="1631576" y="4900706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0F4AE44-7230-7CAE-D37E-A292F05B0F86}"/>
                  </a:ext>
                </a:extLst>
              </p:cNvPr>
              <p:cNvSpPr/>
              <p:nvPr/>
            </p:nvSpPr>
            <p:spPr>
              <a:xfrm>
                <a:off x="2029011" y="4894823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9BE1FB5-A0C9-8ECF-5A4D-F6504D734766}"/>
                  </a:ext>
                </a:extLst>
              </p:cNvPr>
              <p:cNvSpPr/>
              <p:nvPr/>
            </p:nvSpPr>
            <p:spPr>
              <a:xfrm>
                <a:off x="2426446" y="4894823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D52CA7B-52BA-8A36-BF83-A65D097BF3CB}"/>
                  </a:ext>
                </a:extLst>
              </p:cNvPr>
              <p:cNvSpPr/>
              <p:nvPr/>
            </p:nvSpPr>
            <p:spPr>
              <a:xfrm>
                <a:off x="2823881" y="4894823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69D735C-85E3-BA57-AFE2-85D512E596C8}"/>
                  </a:ext>
                </a:extLst>
              </p:cNvPr>
              <p:cNvSpPr/>
              <p:nvPr/>
            </p:nvSpPr>
            <p:spPr>
              <a:xfrm>
                <a:off x="3221316" y="4894823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0DE068B-895D-F844-2E69-D231CAC58797}"/>
                  </a:ext>
                </a:extLst>
              </p:cNvPr>
              <p:cNvSpPr/>
              <p:nvPr/>
            </p:nvSpPr>
            <p:spPr>
              <a:xfrm>
                <a:off x="3675421" y="4894823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9F6D4A9-2CD9-6F67-8028-8F1000224245}"/>
                  </a:ext>
                </a:extLst>
              </p:cNvPr>
              <p:cNvSpPr/>
              <p:nvPr/>
            </p:nvSpPr>
            <p:spPr>
              <a:xfrm>
                <a:off x="4072856" y="4888940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3B36F13-4525-0581-4DD1-9F9620907B5C}"/>
                  </a:ext>
                </a:extLst>
              </p:cNvPr>
              <p:cNvSpPr/>
              <p:nvPr/>
            </p:nvSpPr>
            <p:spPr>
              <a:xfrm>
                <a:off x="4470291" y="4888940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D84A8FB-D559-C471-9DED-6A017B787C14}"/>
                  </a:ext>
                </a:extLst>
              </p:cNvPr>
              <p:cNvSpPr/>
              <p:nvPr/>
            </p:nvSpPr>
            <p:spPr>
              <a:xfrm>
                <a:off x="4867726" y="4888940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1E1E5F1-72C6-9824-A416-F5B8BCA5A596}"/>
                  </a:ext>
                </a:extLst>
              </p:cNvPr>
              <p:cNvSpPr/>
              <p:nvPr/>
            </p:nvSpPr>
            <p:spPr>
              <a:xfrm>
                <a:off x="5265161" y="4888940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E7C1C8D-3D56-A52C-5883-DC43AB2915F6}"/>
                  </a:ext>
                </a:extLst>
              </p:cNvPr>
              <p:cNvSpPr/>
              <p:nvPr/>
            </p:nvSpPr>
            <p:spPr>
              <a:xfrm>
                <a:off x="5719266" y="4888940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CE55600-EAD8-CAFA-3D43-B7593BCDAEDF}"/>
                  </a:ext>
                </a:extLst>
              </p:cNvPr>
              <p:cNvSpPr/>
              <p:nvPr/>
            </p:nvSpPr>
            <p:spPr>
              <a:xfrm>
                <a:off x="6116701" y="4883057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1454EF3-7253-E17B-CDD8-77B85041FEC4}"/>
                  </a:ext>
                </a:extLst>
              </p:cNvPr>
              <p:cNvSpPr/>
              <p:nvPr/>
            </p:nvSpPr>
            <p:spPr>
              <a:xfrm>
                <a:off x="6514136" y="4883057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0CF0B26-4E9A-0C31-ABA8-50944381628F}"/>
                  </a:ext>
                </a:extLst>
              </p:cNvPr>
              <p:cNvSpPr/>
              <p:nvPr/>
            </p:nvSpPr>
            <p:spPr>
              <a:xfrm>
                <a:off x="6911571" y="4883057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2DBA765-AF2A-24B3-079E-9C4AB5B4F55D}"/>
                  </a:ext>
                </a:extLst>
              </p:cNvPr>
              <p:cNvSpPr/>
              <p:nvPr/>
            </p:nvSpPr>
            <p:spPr>
              <a:xfrm>
                <a:off x="7309006" y="4883057"/>
                <a:ext cx="47810" cy="4781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D36D47-EEE9-CC63-FD5D-7386DA778048}"/>
                  </a:ext>
                </a:extLst>
              </p:cNvPr>
              <p:cNvSpPr txBox="1"/>
              <p:nvPr/>
            </p:nvSpPr>
            <p:spPr>
              <a:xfrm>
                <a:off x="1823219" y="4543420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p2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8849C5C-EA9E-2C5E-F694-64363FFB9A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316" y="6594926"/>
                <a:ext cx="7155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2553D91-3FA2-D7E9-8330-26CE78359F95}"/>
                  </a:ext>
                </a:extLst>
              </p:cNvPr>
              <p:cNvSpPr txBox="1"/>
              <p:nvPr/>
            </p:nvSpPr>
            <p:spPr>
              <a:xfrm rot="16200000">
                <a:off x="533224" y="6053775"/>
                <a:ext cx="657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 err="1"/>
                  <a:t>lidar</a:t>
                </a:r>
                <a:endParaRPr lang="sk-SK" dirty="0"/>
              </a:p>
            </p:txBody>
          </p:sp>
          <p:sp>
            <p:nvSpPr>
              <p:cNvPr id="39" name="Callout: Left-Right Arrow 38">
                <a:extLst>
                  <a:ext uri="{FF2B5EF4-FFF2-40B4-BE49-F238E27FC236}">
                    <a16:creationId xmlns:a16="http://schemas.microsoft.com/office/drawing/2014/main" id="{C72ECAC7-EDE7-4EC9-4741-E73FBB8A18F0}"/>
                  </a:ext>
                </a:extLst>
              </p:cNvPr>
              <p:cNvSpPr/>
              <p:nvPr/>
            </p:nvSpPr>
            <p:spPr>
              <a:xfrm>
                <a:off x="2334778" y="6041359"/>
                <a:ext cx="1332755" cy="174339"/>
              </a:xfrm>
              <a:prstGeom prst="leftRightArrowCallou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40" name="Callout: Left-Right Arrow 39">
                <a:extLst>
                  <a:ext uri="{FF2B5EF4-FFF2-40B4-BE49-F238E27FC236}">
                    <a16:creationId xmlns:a16="http://schemas.microsoft.com/office/drawing/2014/main" id="{EBAE4E43-6D97-01DC-E2EC-6437D324DA90}"/>
                  </a:ext>
                </a:extLst>
              </p:cNvPr>
              <p:cNvSpPr/>
              <p:nvPr/>
            </p:nvSpPr>
            <p:spPr>
              <a:xfrm>
                <a:off x="3667533" y="6035493"/>
                <a:ext cx="1332755" cy="174339"/>
              </a:xfrm>
              <a:prstGeom prst="leftRightArrowCallou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41" name="Callout: Left-Right Arrow 40">
                <a:extLst>
                  <a:ext uri="{FF2B5EF4-FFF2-40B4-BE49-F238E27FC236}">
                    <a16:creationId xmlns:a16="http://schemas.microsoft.com/office/drawing/2014/main" id="{72F34972-B1E5-E928-4879-F0B673C3C61D}"/>
                  </a:ext>
                </a:extLst>
              </p:cNvPr>
              <p:cNvSpPr/>
              <p:nvPr/>
            </p:nvSpPr>
            <p:spPr>
              <a:xfrm>
                <a:off x="5000288" y="6027730"/>
                <a:ext cx="1332755" cy="174339"/>
              </a:xfrm>
              <a:prstGeom prst="leftRightArrowCallou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3B8B43A-171A-F616-7745-783C456D1B6B}"/>
                  </a:ext>
                </a:extLst>
              </p:cNvPr>
              <p:cNvSpPr txBox="1"/>
              <p:nvPr/>
            </p:nvSpPr>
            <p:spPr>
              <a:xfrm>
                <a:off x="2761293" y="5718781"/>
                <a:ext cx="373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l1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19B6F8-3BEE-83C8-6F54-13B9CA56698E}"/>
                  </a:ext>
                </a:extLst>
              </p:cNvPr>
              <p:cNvSpPr txBox="1"/>
              <p:nvPr/>
            </p:nvSpPr>
            <p:spPr>
              <a:xfrm>
                <a:off x="4110400" y="5642786"/>
                <a:ext cx="373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l2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DF9D59E-D263-BB99-46B3-E4CEDF4D1D26}"/>
                  </a:ext>
                </a:extLst>
              </p:cNvPr>
              <p:cNvSpPr txBox="1"/>
              <p:nvPr/>
            </p:nvSpPr>
            <p:spPr>
              <a:xfrm>
                <a:off x="5459507" y="5642786"/>
                <a:ext cx="373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l3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700022E1-45B7-D329-449A-FA0CB7C9D99F}"/>
                  </a:ext>
                </a:extLst>
              </p:cNvPr>
              <p:cNvCxnSpPr>
                <a:stCxn id="39" idx="1"/>
              </p:cNvCxnSpPr>
              <p:nvPr/>
            </p:nvCxnSpPr>
            <p:spPr>
              <a:xfrm flipH="1" flipV="1">
                <a:off x="1896753" y="4912752"/>
                <a:ext cx="438025" cy="12157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B43A8E-A066-576E-C331-2323EADFDE1A}"/>
                  </a:ext>
                </a:extLst>
              </p:cNvPr>
              <p:cNvCxnSpPr>
                <a:stCxn id="40" idx="1"/>
              </p:cNvCxnSpPr>
              <p:nvPr/>
            </p:nvCxnSpPr>
            <p:spPr>
              <a:xfrm flipH="1" flipV="1">
                <a:off x="3158771" y="4912550"/>
                <a:ext cx="508762" cy="12101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D2C91439-303E-24A8-9819-65DC238B1455}"/>
                  </a:ext>
                </a:extLst>
              </p:cNvPr>
              <p:cNvCxnSpPr>
                <a:stCxn id="41" idx="1"/>
              </p:cNvCxnSpPr>
              <p:nvPr/>
            </p:nvCxnSpPr>
            <p:spPr>
              <a:xfrm flipH="1" flipV="1">
                <a:off x="4687105" y="4894823"/>
                <a:ext cx="313183" cy="12200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DBBCAC40-8FFE-E0BC-B483-C102238BAF05}"/>
                  </a:ext>
                </a:extLst>
              </p:cNvPr>
              <p:cNvCxnSpPr>
                <a:stCxn id="41" idx="3"/>
              </p:cNvCxnSpPr>
              <p:nvPr/>
            </p:nvCxnSpPr>
            <p:spPr>
              <a:xfrm flipH="1" flipV="1">
                <a:off x="6075300" y="4912550"/>
                <a:ext cx="257743" cy="12023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60540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16BE-767E-6415-2107-3A161D82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Vplyv</a:t>
            </a:r>
            <a:r>
              <a:rPr lang="en-US" dirty="0"/>
              <a:t> </a:t>
            </a:r>
            <a:r>
              <a:rPr lang="en-US" dirty="0" err="1"/>
              <a:t>synchroniz</a:t>
            </a:r>
            <a:r>
              <a:rPr lang="sk-SK" dirty="0" err="1"/>
              <a:t>ácie</a:t>
            </a:r>
            <a:r>
              <a:rPr lang="sk-SK" dirty="0"/>
              <a:t> na mapovanie (obrázok zo simulátora)</a:t>
            </a:r>
          </a:p>
        </p:txBody>
      </p:sp>
      <p:pic>
        <p:nvPicPr>
          <p:cNvPr id="5" name="Content Placeholder 4" descr="A black and white image of a maze&#10;&#10;AI-generated content may be incorrect.">
            <a:extLst>
              <a:ext uri="{FF2B5EF4-FFF2-40B4-BE49-F238E27FC236}">
                <a16:creationId xmlns:a16="http://schemas.microsoft.com/office/drawing/2014/main" id="{8559964A-56C9-FB45-176D-68E99254C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8781" y="2526990"/>
            <a:ext cx="2824396" cy="3123953"/>
          </a:xfrm>
        </p:spPr>
      </p:pic>
      <p:pic>
        <p:nvPicPr>
          <p:cNvPr id="7" name="Picture 6" descr="A maze with a square maze&#10;&#10;AI-generated content may be incorrect.">
            <a:extLst>
              <a:ext uri="{FF2B5EF4-FFF2-40B4-BE49-F238E27FC236}">
                <a16:creationId xmlns:a16="http://schemas.microsoft.com/office/drawing/2014/main" id="{96FE7954-B439-5BD6-B95A-CDF490F15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685" y="2579807"/>
            <a:ext cx="2737317" cy="307113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F0325843-4DA6-9B7F-AFEE-7E50FE7EFCF7}"/>
              </a:ext>
            </a:extLst>
          </p:cNvPr>
          <p:cNvSpPr/>
          <p:nvPr/>
        </p:nvSpPr>
        <p:spPr>
          <a:xfrm>
            <a:off x="4622013" y="3304987"/>
            <a:ext cx="1565835" cy="1320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08478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076D-E9E0-45A6-9754-A0412442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Poznámky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CF139-A916-467E-BEA1-EF6008439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Rozlíšenie mriežky si zvoľte rozumne , ak bude príliš veľké budete mat veľa dier a veľa počítania, ak bude malé, stratíte potenciálne cesty</a:t>
            </a:r>
          </a:p>
          <a:p>
            <a:r>
              <a:rPr lang="sk-SK" dirty="0"/>
              <a:t>Priestor má zhruba 6x5 metrov</a:t>
            </a:r>
          </a:p>
          <a:p>
            <a:r>
              <a:rPr lang="sk-SK" dirty="0"/>
              <a:t>Interpolácia- presnejšia je kubická, pri priamočiarom pohybe stačí lineárna</a:t>
            </a:r>
          </a:p>
          <a:p>
            <a:endParaRPr lang="sk-SK" dirty="0"/>
          </a:p>
          <a:p>
            <a:pPr marL="0" indent="0">
              <a:buNone/>
            </a:pPr>
            <a:r>
              <a:rPr lang="sk-SK" dirty="0"/>
              <a:t>Neviete kde v priestore začnete – neviete kam budete zapisovať, ak to chcete spraviť univerzálne môžete buď mriežku časom zväčšovať alebo rátajte že začínate v strede a priestor má 12x12 metrov  (na odovzdávaní akceptujem aj keď sa budete tváriť že vždy viete kde začínate)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77686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9453</TotalTime>
  <Words>326</Words>
  <Application>Microsoft Office PowerPoint</Application>
  <PresentationFormat>Widescreen</PresentationFormat>
  <Paragraphs>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 Math</vt:lpstr>
      <vt:lpstr>Trebuchet MS</vt:lpstr>
      <vt:lpstr>Wingdings 3</vt:lpstr>
      <vt:lpstr>Facet</vt:lpstr>
      <vt:lpstr>RMR úloha 3</vt:lpstr>
      <vt:lpstr>Počiatočné podmienky</vt:lpstr>
      <vt:lpstr>Základný princíp</vt:lpstr>
      <vt:lpstr>Základný princíp</vt:lpstr>
      <vt:lpstr>Základný princíp</vt:lpstr>
      <vt:lpstr>Základný princíp</vt:lpstr>
      <vt:lpstr>Základný princíp</vt:lpstr>
      <vt:lpstr>Základný princíp</vt:lpstr>
      <vt:lpstr>Základný princíp</vt:lpstr>
      <vt:lpstr>Ako prerátať laserové meranie do globálnych súradníc</vt:lpstr>
      <vt:lpstr>Ako prerátať laserové meranie do globálnych súradníc</vt:lpstr>
      <vt:lpstr>Ako prerátať laserové meranie do globálnych súradníc</vt:lpstr>
      <vt:lpstr>Po prerátaní</vt:lpstr>
      <vt:lpstr>Po prerátaní</vt:lpstr>
      <vt:lpstr>Spolu</vt:lpstr>
      <vt:lpstr>A z veľa iných pozícií</vt:lpstr>
      <vt:lpstr>Časová synchronizácia a pohyb robota</vt:lpstr>
      <vt:lpstr>Časová synchronizácia a pohyb robota</vt:lpstr>
      <vt:lpstr>Vplyv synchronizácie na mapovanie (obrázok zo simulátora)</vt:lpstr>
      <vt:lpstr>Poznámky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RMR úloha 3</dc:title>
  <dc:creator>martin dekan</dc:creator>
  <cp:lastModifiedBy>Martin Dekan</cp:lastModifiedBy>
  <cp:revision>19</cp:revision>
  <dcterms:created xsi:type="dcterms:W3CDTF">2019-02-19T07:28:15Z</dcterms:created>
  <dcterms:modified xsi:type="dcterms:W3CDTF">2025-02-20T14:04:54Z</dcterms:modified>
</cp:coreProperties>
</file>