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91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259" r:id="rId12"/>
    <p:sldId id="260" r:id="rId13"/>
    <p:sldId id="289" r:id="rId14"/>
    <p:sldId id="290" r:id="rId15"/>
    <p:sldId id="258" r:id="rId16"/>
    <p:sldId id="295" r:id="rId17"/>
    <p:sldId id="296" r:id="rId18"/>
    <p:sldId id="304" r:id="rId19"/>
    <p:sldId id="30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Váha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Stav  1</c:v>
                </c:pt>
                <c:pt idx="1">
                  <c:v>Stav  2</c:v>
                </c:pt>
                <c:pt idx="2">
                  <c:v>Stav 3</c:v>
                </c:pt>
                <c:pt idx="3">
                  <c:v>Stav 4</c:v>
                </c:pt>
                <c:pt idx="4">
                  <c:v>Stav 5</c:v>
                </c:pt>
                <c:pt idx="5">
                  <c:v>Stav 6</c:v>
                </c:pt>
                <c:pt idx="6">
                  <c:v>Stav 7</c:v>
                </c:pt>
                <c:pt idx="7">
                  <c:v>Stav 8</c:v>
                </c:pt>
                <c:pt idx="8">
                  <c:v>Stav 9</c:v>
                </c:pt>
                <c:pt idx="9">
                  <c:v>Stav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</c:v>
                </c:pt>
                <c:pt idx="2">
                  <c:v>2.5</c:v>
                </c:pt>
                <c:pt idx="3">
                  <c:v>0.15</c:v>
                </c:pt>
                <c:pt idx="4">
                  <c:v>1.4</c:v>
                </c:pt>
                <c:pt idx="5">
                  <c:v>1.5</c:v>
                </c:pt>
                <c:pt idx="6">
                  <c:v>2.1</c:v>
                </c:pt>
                <c:pt idx="7">
                  <c:v>0.6</c:v>
                </c:pt>
                <c:pt idx="8">
                  <c:v>2.2000000000000002</c:v>
                </c:pt>
                <c:pt idx="9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34-4740-94B4-D0EA6D29C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6874616"/>
        <c:axId val="666884120"/>
      </c:barChart>
      <c:catAx>
        <c:axId val="666874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884120"/>
        <c:crosses val="autoZero"/>
        <c:auto val="1"/>
        <c:lblAlgn val="ctr"/>
        <c:lblOffset val="100"/>
        <c:noMultiLvlLbl val="0"/>
      </c:catAx>
      <c:valAx>
        <c:axId val="666884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874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Ruleta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Sheet1!$A$2:$A$11</c:f>
              <c:strCache>
                <c:ptCount val="10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</c:v>
                </c:pt>
                <c:pt idx="5">
                  <c:v>6th</c:v>
                </c:pt>
                <c:pt idx="6">
                  <c:v>7th</c:v>
                </c:pt>
                <c:pt idx="7">
                  <c:v>8th</c:v>
                </c:pt>
                <c:pt idx="8">
                  <c:v>9th</c:v>
                </c:pt>
                <c:pt idx="9">
                  <c:v>10th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</c:v>
                </c:pt>
                <c:pt idx="2">
                  <c:v>2.5</c:v>
                </c:pt>
                <c:pt idx="3">
                  <c:v>0.15</c:v>
                </c:pt>
                <c:pt idx="4">
                  <c:v>1.4</c:v>
                </c:pt>
                <c:pt idx="5">
                  <c:v>1.5</c:v>
                </c:pt>
                <c:pt idx="6">
                  <c:v>2.1</c:v>
                </c:pt>
                <c:pt idx="7">
                  <c:v>0.6</c:v>
                </c:pt>
                <c:pt idx="8">
                  <c:v>2.2000000000000002</c:v>
                </c:pt>
                <c:pt idx="9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BB-4F30-B72B-377CBFB86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61BA-DCF0-4757-B243-D03C729473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RMR </a:t>
            </a:r>
            <a:r>
              <a:rPr lang="sk-SK" dirty="0"/>
              <a:t>úloha 5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1CC10-BE23-427E-968B-E72E747116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Lokalizácia Monte Carlo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83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ED66-1B30-4A64-A00E-36B26678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Počiatočné podmienky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8FBF-E84B-4C36-81D9-3751F07A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Čo máme</a:t>
            </a:r>
          </a:p>
          <a:p>
            <a:pPr lvl="1"/>
            <a:r>
              <a:rPr lang="sk-SK" dirty="0"/>
              <a:t>Mapu prostredia (vytvorenú buď robotom, alebo načítanú z kót)</a:t>
            </a:r>
          </a:p>
          <a:p>
            <a:pPr lvl="1"/>
            <a:r>
              <a:rPr lang="en-GB" dirty="0"/>
              <a:t>D</a:t>
            </a:r>
            <a:r>
              <a:rPr lang="sk-SK" dirty="0" err="1"/>
              <a:t>áta</a:t>
            </a:r>
            <a:r>
              <a:rPr lang="sk-SK" dirty="0"/>
              <a:t> z laserového diaľkomeru</a:t>
            </a:r>
          </a:p>
          <a:p>
            <a:pPr lvl="1"/>
            <a:r>
              <a:rPr lang="sk-SK" dirty="0"/>
              <a:t>Spôsob pohybu po priestore</a:t>
            </a:r>
          </a:p>
          <a:p>
            <a:pPr lvl="1"/>
            <a:endParaRPr lang="sk-SK" dirty="0"/>
          </a:p>
          <a:p>
            <a:r>
              <a:rPr lang="sk-SK" dirty="0"/>
              <a:t>Čo chceme dostať</a:t>
            </a:r>
          </a:p>
          <a:p>
            <a:pPr lvl="1"/>
            <a:r>
              <a:rPr lang="sk-SK" dirty="0"/>
              <a:t>Najpravdepodobnejšiu polohu robota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39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D55E-8621-BC7D-9408-335734D3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sk-SK" dirty="0"/>
              <a:t>Princíp fungovania</a:t>
            </a:r>
            <a:endParaRPr lang="en-GB" dirty="0"/>
          </a:p>
        </p:txBody>
      </p:sp>
      <p:pic>
        <p:nvPicPr>
          <p:cNvPr id="5" name="Content Placeholder 4" descr="A screen shot of a map&#10;&#10;AI-generated content may be incorrect.">
            <a:extLst>
              <a:ext uri="{FF2B5EF4-FFF2-40B4-BE49-F238E27FC236}">
                <a16:creationId xmlns:a16="http://schemas.microsoft.com/office/drawing/2014/main" id="{F49D33D3-E9E8-E6EF-7638-1A503F93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77" y="2159331"/>
            <a:ext cx="5176482" cy="38823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7F803F-159A-894F-DA4B-7C085D773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r>
              <a:rPr lang="sk-SK" sz="1500" dirty="0"/>
              <a:t>Pravdepodobnosť vyjadrujete skupinou stavov</a:t>
            </a:r>
          </a:p>
          <a:p>
            <a:r>
              <a:rPr lang="sk-SK" sz="1500" dirty="0"/>
              <a:t>Aktuálna poloha je stav s najvyššou váhou</a:t>
            </a:r>
          </a:p>
          <a:p>
            <a:r>
              <a:rPr lang="sk-SK" sz="1500" dirty="0"/>
              <a:t>Na pohyb je aplikovaný šum</a:t>
            </a:r>
          </a:p>
          <a:p>
            <a:r>
              <a:rPr lang="sk-SK" sz="1500" dirty="0"/>
              <a:t>Meranie laserovým diaľkomerom určuje váhu stavu</a:t>
            </a:r>
          </a:p>
          <a:p>
            <a:r>
              <a:rPr lang="sk-SK" sz="1500" dirty="0"/>
              <a:t>Po každom meraní príde k </a:t>
            </a:r>
            <a:r>
              <a:rPr lang="sk-SK" sz="1500" dirty="0" err="1"/>
              <a:t>prevzorkovaniu</a:t>
            </a:r>
            <a:endParaRPr lang="sk-SK" sz="1500" dirty="0"/>
          </a:p>
          <a:p>
            <a:r>
              <a:rPr lang="sk-SK" sz="1500" dirty="0"/>
              <a:t>Stavy s nízkou váhou postupne vymierajú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3231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3207F6-86CF-268D-30FB-53B2D560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912690"/>
              </p:ext>
            </p:extLst>
          </p:nvPr>
        </p:nvGraphicFramePr>
        <p:xfrm>
          <a:off x="734658" y="1405086"/>
          <a:ext cx="6671195" cy="3954700"/>
        </p:xfrm>
        <a:graphic>
          <a:graphicData uri="http://schemas.openxmlformats.org/drawingml/2006/table">
            <a:tbl>
              <a:tblPr/>
              <a:tblGrid>
                <a:gridCol w="6671195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</a:tblGrid>
              <a:tr h="39547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BDE046-1EAD-B49E-3E00-DEEB33E3F4CD}"/>
              </a:ext>
            </a:extLst>
          </p:cNvPr>
          <p:cNvCxnSpPr>
            <a:cxnSpLocks/>
          </p:cNvCxnSpPr>
          <p:nvPr/>
        </p:nvCxnSpPr>
        <p:spPr>
          <a:xfrm>
            <a:off x="390709" y="5359788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34823D-7BCB-644D-3ABD-9178B98CCD99}"/>
              </a:ext>
            </a:extLst>
          </p:cNvPr>
          <p:cNvCxnSpPr/>
          <p:nvPr/>
        </p:nvCxnSpPr>
        <p:spPr>
          <a:xfrm flipV="1">
            <a:off x="734658" y="2499142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6D49EB-BA26-0845-0E5B-F35CAF0222E9}"/>
                  </a:ext>
                </a:extLst>
              </p:cNvPr>
              <p:cNvSpPr/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76D49EB-BA26-0845-0E5B-F35CAF0222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765E1D2-EF53-78AD-E70C-19521D52907A}"/>
              </a:ext>
            </a:extLst>
          </p:cNvPr>
          <p:cNvSpPr/>
          <p:nvPr/>
        </p:nvSpPr>
        <p:spPr>
          <a:xfrm>
            <a:off x="2345344" y="3438709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A6AD8-3388-6639-2D08-2F2906893D22}"/>
              </a:ext>
            </a:extLst>
          </p:cNvPr>
          <p:cNvSpPr/>
          <p:nvPr/>
        </p:nvSpPr>
        <p:spPr>
          <a:xfrm>
            <a:off x="1326317" y="1651666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9DE9575-B80D-6B27-9141-1131DB7B97D6}"/>
              </a:ext>
            </a:extLst>
          </p:cNvPr>
          <p:cNvSpPr/>
          <p:nvPr/>
        </p:nvSpPr>
        <p:spPr>
          <a:xfrm>
            <a:off x="5148304" y="2360582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1D4EC7-C7BD-FEBB-0E04-71FFEA5D2312}"/>
                  </a:ext>
                </a:extLst>
              </p:cNvPr>
              <p:cNvSpPr/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1D4EC7-C7BD-FEBB-0E04-71FFEA5D23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367B8EC-D7AC-F6A2-DFA9-FFBB04E9F314}"/>
              </a:ext>
            </a:extLst>
          </p:cNvPr>
          <p:cNvGrpSpPr/>
          <p:nvPr/>
        </p:nvGrpSpPr>
        <p:grpSpPr>
          <a:xfrm>
            <a:off x="8347761" y="2360582"/>
            <a:ext cx="1498895" cy="2730196"/>
            <a:chOff x="2490057" y="2083709"/>
            <a:chExt cx="1498895" cy="273019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FA08D9B-4251-074D-238A-03672C664372}"/>
                </a:ext>
              </a:extLst>
            </p:cNvPr>
            <p:cNvGrpSpPr/>
            <p:nvPr/>
          </p:nvGrpSpPr>
          <p:grpSpPr>
            <a:xfrm>
              <a:off x="2490057" y="2083709"/>
              <a:ext cx="1498895" cy="2730196"/>
              <a:chOff x="2490057" y="2083709"/>
              <a:chExt cx="1498895" cy="273019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11733ED-6AE0-2854-6FC2-340710283EC9}"/>
                  </a:ext>
                </a:extLst>
              </p:cNvPr>
              <p:cNvSpPr/>
              <p:nvPr/>
            </p:nvSpPr>
            <p:spPr>
              <a:xfrm>
                <a:off x="3596404" y="476818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D594F10-9936-92F3-E0E5-0ADAD48403F0}"/>
                  </a:ext>
                </a:extLst>
              </p:cNvPr>
              <p:cNvSpPr/>
              <p:nvPr/>
            </p:nvSpPr>
            <p:spPr>
              <a:xfrm>
                <a:off x="3649210" y="454916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F5EF0CC-2E8D-C1C7-D907-9D35A0CBEA5D}"/>
                  </a:ext>
                </a:extLst>
              </p:cNvPr>
              <p:cNvSpPr/>
              <p:nvPr/>
            </p:nvSpPr>
            <p:spPr>
              <a:xfrm>
                <a:off x="3551218" y="418875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95DD615-5A34-A9C0-31AB-3285300CF5FD}"/>
                  </a:ext>
                </a:extLst>
              </p:cNvPr>
              <p:cNvSpPr/>
              <p:nvPr/>
            </p:nvSpPr>
            <p:spPr>
              <a:xfrm>
                <a:off x="3626351" y="394464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CBEF3A1-298A-5D9C-032F-38CC1E0F63B1}"/>
                  </a:ext>
                </a:extLst>
              </p:cNvPr>
              <p:cNvSpPr/>
              <p:nvPr/>
            </p:nvSpPr>
            <p:spPr>
              <a:xfrm>
                <a:off x="3619798" y="34588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7417563-AD01-A83E-2DEA-62A84CFC6399}"/>
                  </a:ext>
                </a:extLst>
              </p:cNvPr>
              <p:cNvSpPr/>
              <p:nvPr/>
            </p:nvSpPr>
            <p:spPr>
              <a:xfrm>
                <a:off x="2490057" y="2083709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708C1-F39B-E9E8-8D4C-255516AFD340}"/>
                  </a:ext>
                </a:extLst>
              </p:cNvPr>
              <p:cNvSpPr/>
              <p:nvPr/>
            </p:nvSpPr>
            <p:spPr>
              <a:xfrm>
                <a:off x="2757489" y="208800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B7DE20A-EC4E-42F0-7E1C-2462714C4A53}"/>
                  </a:ext>
                </a:extLst>
              </p:cNvPr>
              <p:cNvSpPr/>
              <p:nvPr/>
            </p:nvSpPr>
            <p:spPr>
              <a:xfrm>
                <a:off x="2995194" y="221138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9DD8A6F-4E28-FEFB-37C9-D56D8D80B0DC}"/>
                  </a:ext>
                </a:extLst>
              </p:cNvPr>
              <p:cNvSpPr/>
              <p:nvPr/>
            </p:nvSpPr>
            <p:spPr>
              <a:xfrm>
                <a:off x="3293106" y="217541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0A7B9F-29C0-4488-06CA-99401FF778B6}"/>
                  </a:ext>
                </a:extLst>
              </p:cNvPr>
              <p:cNvSpPr/>
              <p:nvPr/>
            </p:nvSpPr>
            <p:spPr>
              <a:xfrm>
                <a:off x="3551218" y="2179704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C408BB1-ACFF-20EB-B717-B24F0423560A}"/>
                  </a:ext>
                </a:extLst>
              </p:cNvPr>
              <p:cNvSpPr/>
              <p:nvPr/>
            </p:nvSpPr>
            <p:spPr>
              <a:xfrm>
                <a:off x="3695462" y="2172468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887635B-9AA1-5F83-84A0-5EFE2E624B09}"/>
                  </a:ext>
                </a:extLst>
              </p:cNvPr>
              <p:cNvSpPr/>
              <p:nvPr/>
            </p:nvSpPr>
            <p:spPr>
              <a:xfrm>
                <a:off x="3943233" y="2095622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00272F4-A5B5-39C2-EC46-29547386C9D2}"/>
                </a:ext>
              </a:extLst>
            </p:cNvPr>
            <p:cNvSpPr/>
            <p:nvPr/>
          </p:nvSpPr>
          <p:spPr>
            <a:xfrm>
              <a:off x="3596404" y="3647305"/>
              <a:ext cx="45719" cy="45719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A9617C44-2041-5647-109E-15981A48E659}"/>
              </a:ext>
            </a:extLst>
          </p:cNvPr>
          <p:cNvSpPr/>
          <p:nvPr/>
        </p:nvSpPr>
        <p:spPr>
          <a:xfrm rot="4884300">
            <a:off x="1187239" y="3239026"/>
            <a:ext cx="211360" cy="29417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3446483-1054-245B-E939-885F5078FEEB}"/>
              </a:ext>
            </a:extLst>
          </p:cNvPr>
          <p:cNvSpPr/>
          <p:nvPr/>
        </p:nvSpPr>
        <p:spPr>
          <a:xfrm rot="19382097">
            <a:off x="4325032" y="3914428"/>
            <a:ext cx="211360" cy="294176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5CE93BBC-97C0-3CE2-84A1-AE0964D39B52}"/>
              </a:ext>
            </a:extLst>
          </p:cNvPr>
          <p:cNvSpPr/>
          <p:nvPr/>
        </p:nvSpPr>
        <p:spPr>
          <a:xfrm rot="5718403">
            <a:off x="6364485" y="1928796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ACB01DA1-7644-0008-5FC0-3E4D3CD9B605}"/>
              </a:ext>
            </a:extLst>
          </p:cNvPr>
          <p:cNvSpPr/>
          <p:nvPr/>
        </p:nvSpPr>
        <p:spPr>
          <a:xfrm rot="12467250">
            <a:off x="3431168" y="4678949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86985041-BB3E-9BC0-6F25-138FD6EE4A48}"/>
              </a:ext>
            </a:extLst>
          </p:cNvPr>
          <p:cNvSpPr/>
          <p:nvPr/>
        </p:nvSpPr>
        <p:spPr>
          <a:xfrm rot="4602524">
            <a:off x="5911147" y="3775469"/>
            <a:ext cx="211360" cy="294176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6BE3683F-14E3-009F-4F3C-B532DED58316}"/>
              </a:ext>
            </a:extLst>
          </p:cNvPr>
          <p:cNvSpPr/>
          <p:nvPr/>
        </p:nvSpPr>
        <p:spPr>
          <a:xfrm rot="11462868">
            <a:off x="2487435" y="2442666"/>
            <a:ext cx="211360" cy="294176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830CC58-EE9B-B715-4D07-D60316997135}"/>
              </a:ext>
            </a:extLst>
          </p:cNvPr>
          <p:cNvSpPr/>
          <p:nvPr/>
        </p:nvSpPr>
        <p:spPr>
          <a:xfrm rot="7882388">
            <a:off x="1197455" y="4635029"/>
            <a:ext cx="211360" cy="29417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A726379D-C6F9-00E5-FCA5-6800C499D7F6}"/>
              </a:ext>
            </a:extLst>
          </p:cNvPr>
          <p:cNvSpPr/>
          <p:nvPr/>
        </p:nvSpPr>
        <p:spPr>
          <a:xfrm rot="7882388">
            <a:off x="4678146" y="2936027"/>
            <a:ext cx="211360" cy="29417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5311C490-BA61-34D4-9E03-7471DB7CDD6A}"/>
              </a:ext>
            </a:extLst>
          </p:cNvPr>
          <p:cNvSpPr/>
          <p:nvPr/>
        </p:nvSpPr>
        <p:spPr>
          <a:xfrm rot="16790366">
            <a:off x="6439498" y="4701808"/>
            <a:ext cx="211360" cy="29417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0BD5B0A1-B97E-FA24-B184-85E5E622BD09}"/>
              </a:ext>
            </a:extLst>
          </p:cNvPr>
          <p:cNvSpPr/>
          <p:nvPr/>
        </p:nvSpPr>
        <p:spPr>
          <a:xfrm rot="4755982">
            <a:off x="8329855" y="3480264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3C09119-9856-9F4B-5765-4C7A03DB5E6D}"/>
              </a:ext>
            </a:extLst>
          </p:cNvPr>
          <p:cNvSpPr/>
          <p:nvPr/>
        </p:nvSpPr>
        <p:spPr>
          <a:xfrm>
            <a:off x="7874000" y="1863774"/>
            <a:ext cx="2355799" cy="357182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652218-F1B4-977F-69FD-ADA2854F9FCB}"/>
              </a:ext>
            </a:extLst>
          </p:cNvPr>
          <p:cNvSpPr txBox="1"/>
          <p:nvPr/>
        </p:nvSpPr>
        <p:spPr>
          <a:xfrm>
            <a:off x="2272328" y="5517290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Skupina stavov v priestore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94BF03-A915-2738-D974-DC4E61F28888}"/>
              </a:ext>
            </a:extLst>
          </p:cNvPr>
          <p:cNvSpPr txBox="1"/>
          <p:nvPr/>
        </p:nvSpPr>
        <p:spPr>
          <a:xfrm>
            <a:off x="8043449" y="5502547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Aktuálne meranie</a:t>
            </a:r>
            <a:endParaRPr lang="en-GB" dirty="0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2B48FD22-FBCD-2736-E8ED-1761CF6FBA8E}"/>
              </a:ext>
            </a:extLst>
          </p:cNvPr>
          <p:cNvSpPr/>
          <p:nvPr/>
        </p:nvSpPr>
        <p:spPr>
          <a:xfrm rot="14725614">
            <a:off x="3964575" y="1893210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B1F5C0B-861A-C85E-0D00-8F8238F3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 dirty="0"/>
              <a:t>Začiatok algoritmu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944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71FC-69E2-22B2-FD63-ADB572C6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>
            <a:extLst>
              <a:ext uri="{FF2B5EF4-FFF2-40B4-BE49-F238E27FC236}">
                <a16:creationId xmlns:a16="http://schemas.microsoft.com/office/drawing/2014/main" id="{0A5435B0-C441-67EC-541C-7F3BAC08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 dirty="0"/>
              <a:t>Určenie váh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87E180-283F-732B-66F9-8FF15494BF6D}"/>
              </a:ext>
            </a:extLst>
          </p:cNvPr>
          <p:cNvGraphicFramePr>
            <a:graphicFrameLocks noGrp="1"/>
          </p:cNvGraphicFramePr>
          <p:nvPr/>
        </p:nvGraphicFramePr>
        <p:xfrm>
          <a:off x="734658" y="1405086"/>
          <a:ext cx="6671195" cy="3954700"/>
        </p:xfrm>
        <a:graphic>
          <a:graphicData uri="http://schemas.openxmlformats.org/drawingml/2006/table">
            <a:tbl>
              <a:tblPr/>
              <a:tblGrid>
                <a:gridCol w="6671195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</a:tblGrid>
              <a:tr h="39547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1830F0-C0EA-8E67-3FB5-E4AABB489670}"/>
              </a:ext>
            </a:extLst>
          </p:cNvPr>
          <p:cNvCxnSpPr>
            <a:cxnSpLocks/>
          </p:cNvCxnSpPr>
          <p:nvPr/>
        </p:nvCxnSpPr>
        <p:spPr>
          <a:xfrm>
            <a:off x="390709" y="5359788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934D3F-D60A-3377-B46F-8BFD20DC5534}"/>
              </a:ext>
            </a:extLst>
          </p:cNvPr>
          <p:cNvCxnSpPr/>
          <p:nvPr/>
        </p:nvCxnSpPr>
        <p:spPr>
          <a:xfrm flipV="1">
            <a:off x="734658" y="2499142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406B2A2-1424-A351-34AB-3083E57F7CCB}"/>
                  </a:ext>
                </a:extLst>
              </p:cNvPr>
              <p:cNvSpPr/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406B2A2-1424-A351-34AB-3083E57F7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88737A8-7B92-1173-2F9D-81748F45AEE2}"/>
              </a:ext>
            </a:extLst>
          </p:cNvPr>
          <p:cNvSpPr/>
          <p:nvPr/>
        </p:nvSpPr>
        <p:spPr>
          <a:xfrm>
            <a:off x="2345344" y="3438709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4731BB-5FDF-52B1-DB07-C4364E3029B9}"/>
              </a:ext>
            </a:extLst>
          </p:cNvPr>
          <p:cNvSpPr/>
          <p:nvPr/>
        </p:nvSpPr>
        <p:spPr>
          <a:xfrm>
            <a:off x="1326317" y="1651666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DDBCC2-EDC7-9BDF-B9AA-50BA2CD0F88C}"/>
              </a:ext>
            </a:extLst>
          </p:cNvPr>
          <p:cNvSpPr/>
          <p:nvPr/>
        </p:nvSpPr>
        <p:spPr>
          <a:xfrm>
            <a:off x="5148304" y="2360582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21B4D98-228F-3E0F-8A36-C54076CCD20A}"/>
                  </a:ext>
                </a:extLst>
              </p:cNvPr>
              <p:cNvSpPr/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21B4D98-228F-3E0F-8A36-C54076CCD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7D17712-0D94-1AAD-A589-84ECF0AA1DD6}"/>
              </a:ext>
            </a:extLst>
          </p:cNvPr>
          <p:cNvSpPr/>
          <p:nvPr/>
        </p:nvSpPr>
        <p:spPr>
          <a:xfrm rot="7882388">
            <a:off x="4678146" y="2936027"/>
            <a:ext cx="211360" cy="29417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371D41-1AC7-4BF0-71D7-1B3D902A334D}"/>
              </a:ext>
            </a:extLst>
          </p:cNvPr>
          <p:cNvGrpSpPr/>
          <p:nvPr/>
        </p:nvGrpSpPr>
        <p:grpSpPr>
          <a:xfrm>
            <a:off x="8288447" y="2360582"/>
            <a:ext cx="1558209" cy="2730196"/>
            <a:chOff x="8288447" y="2360582"/>
            <a:chExt cx="1558209" cy="273019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2E3567E-C449-FC8E-63AF-76732411958F}"/>
                </a:ext>
              </a:extLst>
            </p:cNvPr>
            <p:cNvGrpSpPr/>
            <p:nvPr/>
          </p:nvGrpSpPr>
          <p:grpSpPr>
            <a:xfrm>
              <a:off x="8347761" y="2360582"/>
              <a:ext cx="1498895" cy="2730196"/>
              <a:chOff x="2490057" y="2083709"/>
              <a:chExt cx="1498895" cy="273019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6FC00C2-2CED-A3BF-5D0C-A8ED7A9EF2B1}"/>
                  </a:ext>
                </a:extLst>
              </p:cNvPr>
              <p:cNvGrpSpPr/>
              <p:nvPr/>
            </p:nvGrpSpPr>
            <p:grpSpPr>
              <a:xfrm>
                <a:off x="2490057" y="2083709"/>
                <a:ext cx="1498895" cy="2730196"/>
                <a:chOff x="2490057" y="2083709"/>
                <a:chExt cx="1498895" cy="2730196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1122691-EBA6-1918-0964-43C74E0E8BE3}"/>
                    </a:ext>
                  </a:extLst>
                </p:cNvPr>
                <p:cNvSpPr/>
                <p:nvPr/>
              </p:nvSpPr>
              <p:spPr>
                <a:xfrm>
                  <a:off x="3596404" y="4768186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83202BDE-F10A-E0AD-B36E-27D1F77AE954}"/>
                    </a:ext>
                  </a:extLst>
                </p:cNvPr>
                <p:cNvSpPr/>
                <p:nvPr/>
              </p:nvSpPr>
              <p:spPr>
                <a:xfrm>
                  <a:off x="3649210" y="454916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46BDA24-5A14-128E-35BB-63AFFE2D8281}"/>
                    </a:ext>
                  </a:extLst>
                </p:cNvPr>
                <p:cNvSpPr/>
                <p:nvPr/>
              </p:nvSpPr>
              <p:spPr>
                <a:xfrm>
                  <a:off x="3551218" y="418875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F658B359-A173-BF3A-A6AC-479A418482CE}"/>
                    </a:ext>
                  </a:extLst>
                </p:cNvPr>
                <p:cNvSpPr/>
                <p:nvPr/>
              </p:nvSpPr>
              <p:spPr>
                <a:xfrm>
                  <a:off x="3626351" y="3944641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4A7F69C-D2C2-1F1B-97AD-9B26D6EEA92A}"/>
                    </a:ext>
                  </a:extLst>
                </p:cNvPr>
                <p:cNvSpPr/>
                <p:nvPr/>
              </p:nvSpPr>
              <p:spPr>
                <a:xfrm>
                  <a:off x="3619798" y="3458845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733E7FF2-CBF7-C6F1-9D38-186B80510C96}"/>
                    </a:ext>
                  </a:extLst>
                </p:cNvPr>
                <p:cNvSpPr/>
                <p:nvPr/>
              </p:nvSpPr>
              <p:spPr>
                <a:xfrm>
                  <a:off x="2490057" y="2083709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86D1C38-FF56-678B-5229-ACA4416E920C}"/>
                    </a:ext>
                  </a:extLst>
                </p:cNvPr>
                <p:cNvSpPr/>
                <p:nvPr/>
              </p:nvSpPr>
              <p:spPr>
                <a:xfrm>
                  <a:off x="2757489" y="208800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34228F1A-29B6-E8BE-20FA-70737AF6315D}"/>
                    </a:ext>
                  </a:extLst>
                </p:cNvPr>
                <p:cNvSpPr/>
                <p:nvPr/>
              </p:nvSpPr>
              <p:spPr>
                <a:xfrm>
                  <a:off x="2995194" y="2211385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81F1902-328E-B0F3-A277-64AD85FCBB3B}"/>
                    </a:ext>
                  </a:extLst>
                </p:cNvPr>
                <p:cNvSpPr/>
                <p:nvPr/>
              </p:nvSpPr>
              <p:spPr>
                <a:xfrm>
                  <a:off x="3293106" y="2175410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5BC9B2D-8123-9259-19EA-4D1E06F599A4}"/>
                    </a:ext>
                  </a:extLst>
                </p:cNvPr>
                <p:cNvSpPr/>
                <p:nvPr/>
              </p:nvSpPr>
              <p:spPr>
                <a:xfrm>
                  <a:off x="3551218" y="217970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A20EC8D-B081-ADDE-A1B4-4D2219C330DF}"/>
                    </a:ext>
                  </a:extLst>
                </p:cNvPr>
                <p:cNvSpPr/>
                <p:nvPr/>
              </p:nvSpPr>
              <p:spPr>
                <a:xfrm>
                  <a:off x="3695462" y="2172468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ACA008C4-3998-6CB1-015D-470663891F7E}"/>
                    </a:ext>
                  </a:extLst>
                </p:cNvPr>
                <p:cNvSpPr/>
                <p:nvPr/>
              </p:nvSpPr>
              <p:spPr>
                <a:xfrm>
                  <a:off x="3943233" y="2095622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C218ED6-B512-3B4E-79EC-A90E1D66E946}"/>
                  </a:ext>
                </a:extLst>
              </p:cNvPr>
              <p:cNvSpPr/>
              <p:nvPr/>
            </p:nvSpPr>
            <p:spPr>
              <a:xfrm>
                <a:off x="3596404" y="364730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DD1754F9-7936-5C75-5888-5CAC64CA2D58}"/>
                </a:ext>
              </a:extLst>
            </p:cNvPr>
            <p:cNvSpPr/>
            <p:nvPr/>
          </p:nvSpPr>
          <p:spPr>
            <a:xfrm rot="4755982">
              <a:off x="8329855" y="3480264"/>
              <a:ext cx="211360" cy="2941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2B56D000-1345-EFA1-F57F-6CDB092AC098}"/>
              </a:ext>
            </a:extLst>
          </p:cNvPr>
          <p:cNvSpPr/>
          <p:nvPr/>
        </p:nvSpPr>
        <p:spPr>
          <a:xfrm>
            <a:off x="7874000" y="1863774"/>
            <a:ext cx="2355799" cy="357182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0365340-41AA-1F3C-96FB-1DEE22DCDF51}"/>
                  </a:ext>
                </a:extLst>
              </p:cNvPr>
              <p:cNvSpPr txBox="1"/>
              <p:nvPr/>
            </p:nvSpPr>
            <p:spPr>
              <a:xfrm>
                <a:off x="846064" y="5698340"/>
                <a:ext cx="7659276" cy="848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Váha napríklad ako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sk-SK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lang="sk-SK" dirty="0"/>
                  <a:t> , </a:t>
                </a:r>
                <a:br>
                  <a:rPr lang="sk-SK" dirty="0"/>
                </a:br>
                <a:r>
                  <a:rPr lang="sk-SK" dirty="0"/>
                  <a:t>kde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k-SK" dirty="0"/>
                  <a:t> predstavuje jeden zmeraný bod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sk-SK" dirty="0"/>
                  <a:t> najbližšiu prekážku k nemu</a:t>
                </a:r>
                <a:endParaRPr lang="en-GB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0365340-41AA-1F3C-96FB-1DEE22DCD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64" y="5698340"/>
                <a:ext cx="7659276" cy="848309"/>
              </a:xfrm>
              <a:prstGeom prst="rect">
                <a:avLst/>
              </a:prstGeom>
              <a:blipFill>
                <a:blip r:embed="rId4"/>
                <a:stretch>
                  <a:fillRect l="-717" t="-7914" b="-18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D6A31155-CA02-7DF6-9F09-C54525F9CD13}"/>
              </a:ext>
            </a:extLst>
          </p:cNvPr>
          <p:cNvSpPr txBox="1"/>
          <p:nvPr/>
        </p:nvSpPr>
        <p:spPr>
          <a:xfrm>
            <a:off x="8043449" y="5502547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Aktuálne meranie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C9AC6C-041F-8FD0-82F4-80D79EB57A08}"/>
              </a:ext>
            </a:extLst>
          </p:cNvPr>
          <p:cNvGrpSpPr/>
          <p:nvPr/>
        </p:nvGrpSpPr>
        <p:grpSpPr>
          <a:xfrm rot="3165910">
            <a:off x="4312680" y="2279787"/>
            <a:ext cx="1558209" cy="2730196"/>
            <a:chOff x="8288447" y="2360582"/>
            <a:chExt cx="1558209" cy="2730196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5CAF622-8EC4-0F23-DDCA-E54AA5A6985A}"/>
                </a:ext>
              </a:extLst>
            </p:cNvPr>
            <p:cNvGrpSpPr/>
            <p:nvPr/>
          </p:nvGrpSpPr>
          <p:grpSpPr>
            <a:xfrm>
              <a:off x="8347761" y="2360582"/>
              <a:ext cx="1498895" cy="2730196"/>
              <a:chOff x="2490057" y="2083709"/>
              <a:chExt cx="1498895" cy="2730196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B23BB53-E428-93F3-3777-FB79766EB289}"/>
                  </a:ext>
                </a:extLst>
              </p:cNvPr>
              <p:cNvGrpSpPr/>
              <p:nvPr/>
            </p:nvGrpSpPr>
            <p:grpSpPr>
              <a:xfrm>
                <a:off x="2490057" y="2083709"/>
                <a:ext cx="1498895" cy="2730196"/>
                <a:chOff x="2490057" y="2083709"/>
                <a:chExt cx="1498895" cy="2730196"/>
              </a:xfrm>
              <a:grpFill/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B13A88CA-0635-DBAC-9464-5ED6D0BDFDCF}"/>
                    </a:ext>
                  </a:extLst>
                </p:cNvPr>
                <p:cNvSpPr/>
                <p:nvPr/>
              </p:nvSpPr>
              <p:spPr>
                <a:xfrm>
                  <a:off x="3596404" y="4768186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CB428AD7-E013-A4FD-E24C-758445F78D82}"/>
                    </a:ext>
                  </a:extLst>
                </p:cNvPr>
                <p:cNvSpPr/>
                <p:nvPr/>
              </p:nvSpPr>
              <p:spPr>
                <a:xfrm>
                  <a:off x="3649210" y="4549164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B7F65063-802F-30EF-2D29-2CEA36B2A9B6}"/>
                    </a:ext>
                  </a:extLst>
                </p:cNvPr>
                <p:cNvSpPr/>
                <p:nvPr/>
              </p:nvSpPr>
              <p:spPr>
                <a:xfrm>
                  <a:off x="3551218" y="4188753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52D164F-1F99-B6B0-C627-2E5152616A58}"/>
                    </a:ext>
                  </a:extLst>
                </p:cNvPr>
                <p:cNvSpPr/>
                <p:nvPr/>
              </p:nvSpPr>
              <p:spPr>
                <a:xfrm>
                  <a:off x="3626351" y="3944641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38EA9177-6638-297B-7D9E-D4A02C4914F8}"/>
                    </a:ext>
                  </a:extLst>
                </p:cNvPr>
                <p:cNvSpPr/>
                <p:nvPr/>
              </p:nvSpPr>
              <p:spPr>
                <a:xfrm>
                  <a:off x="3619798" y="3458845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A4994E6-D0DB-B8D1-00C0-76402DAC7959}"/>
                    </a:ext>
                  </a:extLst>
                </p:cNvPr>
                <p:cNvSpPr/>
                <p:nvPr/>
              </p:nvSpPr>
              <p:spPr>
                <a:xfrm>
                  <a:off x="2490057" y="2083709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876FA70-DB15-37A2-CD42-925A63AE6862}"/>
                    </a:ext>
                  </a:extLst>
                </p:cNvPr>
                <p:cNvSpPr/>
                <p:nvPr/>
              </p:nvSpPr>
              <p:spPr>
                <a:xfrm>
                  <a:off x="2757489" y="2088003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698B12C-515F-20A5-A264-1F6FB50C6EB3}"/>
                    </a:ext>
                  </a:extLst>
                </p:cNvPr>
                <p:cNvSpPr/>
                <p:nvPr/>
              </p:nvSpPr>
              <p:spPr>
                <a:xfrm>
                  <a:off x="2995194" y="2211385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1DC4647-622E-FA4D-BDA2-E67307A6B3EC}"/>
                    </a:ext>
                  </a:extLst>
                </p:cNvPr>
                <p:cNvSpPr/>
                <p:nvPr/>
              </p:nvSpPr>
              <p:spPr>
                <a:xfrm>
                  <a:off x="3293106" y="2175410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BA6F9841-3CDA-CB72-8E6B-AD1B0E710D76}"/>
                    </a:ext>
                  </a:extLst>
                </p:cNvPr>
                <p:cNvSpPr/>
                <p:nvPr/>
              </p:nvSpPr>
              <p:spPr>
                <a:xfrm>
                  <a:off x="3551218" y="2179704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5933986C-86A3-7359-DF30-DC9B64470908}"/>
                    </a:ext>
                  </a:extLst>
                </p:cNvPr>
                <p:cNvSpPr/>
                <p:nvPr/>
              </p:nvSpPr>
              <p:spPr>
                <a:xfrm>
                  <a:off x="3695462" y="2172468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DEA4AF6E-6C79-70D4-1FB9-AA54C8DF7D8C}"/>
                    </a:ext>
                  </a:extLst>
                </p:cNvPr>
                <p:cNvSpPr/>
                <p:nvPr/>
              </p:nvSpPr>
              <p:spPr>
                <a:xfrm>
                  <a:off x="3943233" y="2095622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853095C-E454-3D11-E589-0EF0FB1A664E}"/>
                  </a:ext>
                </a:extLst>
              </p:cNvPr>
              <p:cNvSpPr/>
              <p:nvPr/>
            </p:nvSpPr>
            <p:spPr>
              <a:xfrm>
                <a:off x="3596404" y="364730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2765CB40-2874-5B2E-08F2-B55B38129597}"/>
                </a:ext>
              </a:extLst>
            </p:cNvPr>
            <p:cNvSpPr/>
            <p:nvPr/>
          </p:nvSpPr>
          <p:spPr>
            <a:xfrm rot="4755982">
              <a:off x="8329855" y="3480264"/>
              <a:ext cx="211360" cy="294176"/>
            </a:xfrm>
            <a:prstGeom prst="triangl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4EDAC82-3A26-8B7E-7AC3-5D8DC9CF2D55}"/>
              </a:ext>
            </a:extLst>
          </p:cNvPr>
          <p:cNvCxnSpPr>
            <a:cxnSpLocks/>
            <a:stCxn id="34" idx="1"/>
            <a:endCxn id="10" idx="0"/>
          </p:cNvCxnSpPr>
          <p:nvPr/>
        </p:nvCxnSpPr>
        <p:spPr>
          <a:xfrm>
            <a:off x="5741811" y="2255199"/>
            <a:ext cx="7521" cy="10538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F1242D6-2B85-D5C2-0D9B-2BF14D6F9C33}"/>
              </a:ext>
            </a:extLst>
          </p:cNvPr>
          <p:cNvCxnSpPr>
            <a:stCxn id="35" idx="1"/>
          </p:cNvCxnSpPr>
          <p:nvPr/>
        </p:nvCxnSpPr>
        <p:spPr>
          <a:xfrm flipV="1">
            <a:off x="5900211" y="2400082"/>
            <a:ext cx="42510" cy="7063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2AFABF4-7E47-6B95-B65B-EFB9283706F3}"/>
              </a:ext>
            </a:extLst>
          </p:cNvPr>
          <p:cNvCxnSpPr>
            <a:stCxn id="36" idx="2"/>
            <a:endCxn id="10" idx="7"/>
          </p:cNvCxnSpPr>
          <p:nvPr/>
        </p:nvCxnSpPr>
        <p:spPr>
          <a:xfrm flipV="1">
            <a:off x="5928889" y="2536619"/>
            <a:ext cx="245434" cy="20245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FAB3E8-40F4-CEA1-68BF-AE55B0E4A186}"/>
              </a:ext>
            </a:extLst>
          </p:cNvPr>
          <p:cNvCxnSpPr>
            <a:stCxn id="37" idx="2"/>
            <a:endCxn id="10" idx="6"/>
          </p:cNvCxnSpPr>
          <p:nvPr/>
        </p:nvCxnSpPr>
        <p:spPr>
          <a:xfrm>
            <a:off x="6137793" y="2954494"/>
            <a:ext cx="212567" cy="711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338B8EE-B9B7-4A49-2639-D5A99921425D}"/>
              </a:ext>
            </a:extLst>
          </p:cNvPr>
          <p:cNvCxnSpPr>
            <a:stCxn id="55" idx="4"/>
          </p:cNvCxnSpPr>
          <p:nvPr/>
        </p:nvCxnSpPr>
        <p:spPr>
          <a:xfrm flipH="1" flipV="1">
            <a:off x="6289675" y="3259638"/>
            <a:ext cx="89552" cy="454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EBA478F-8E49-63DC-DE03-38C671CB1B1E}"/>
              </a:ext>
            </a:extLst>
          </p:cNvPr>
          <p:cNvCxnSpPr>
            <a:stCxn id="58" idx="1"/>
          </p:cNvCxnSpPr>
          <p:nvPr/>
        </p:nvCxnSpPr>
        <p:spPr>
          <a:xfrm flipH="1" flipV="1">
            <a:off x="6304385" y="3235325"/>
            <a:ext cx="307234" cy="18404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BA54350-CC86-9744-D3ED-7AD42B78DB6A}"/>
              </a:ext>
            </a:extLst>
          </p:cNvPr>
          <p:cNvCxnSpPr>
            <a:stCxn id="33" idx="2"/>
          </p:cNvCxnSpPr>
          <p:nvPr/>
        </p:nvCxnSpPr>
        <p:spPr>
          <a:xfrm flipV="1">
            <a:off x="5313646" y="3512590"/>
            <a:ext cx="204504" cy="47858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F79A032-029C-17E9-E680-9CCFA02A9D1A}"/>
              </a:ext>
            </a:extLst>
          </p:cNvPr>
          <p:cNvCxnSpPr>
            <a:stCxn id="28" idx="2"/>
          </p:cNvCxnSpPr>
          <p:nvPr/>
        </p:nvCxnSpPr>
        <p:spPr>
          <a:xfrm flipV="1">
            <a:off x="5149446" y="3474054"/>
            <a:ext cx="302029" cy="61253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91CE8BD-39A2-BAE1-7370-8600580F4081}"/>
              </a:ext>
            </a:extLst>
          </p:cNvPr>
          <p:cNvCxnSpPr>
            <a:stCxn id="32" idx="2"/>
          </p:cNvCxnSpPr>
          <p:nvPr/>
        </p:nvCxnSpPr>
        <p:spPr>
          <a:xfrm flipV="1">
            <a:off x="4930839" y="3474054"/>
            <a:ext cx="485059" cy="81628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76FF7D8-D539-E842-D124-30DDE81D3799}"/>
              </a:ext>
            </a:extLst>
          </p:cNvPr>
          <p:cNvCxnSpPr>
            <a:stCxn id="31" idx="2"/>
            <a:endCxn id="10" idx="3"/>
          </p:cNvCxnSpPr>
          <p:nvPr/>
        </p:nvCxnSpPr>
        <p:spPr>
          <a:xfrm flipV="1">
            <a:off x="4691025" y="3386601"/>
            <a:ext cx="633316" cy="99163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3489339-1AC7-42D7-909B-4051038318B3}"/>
              </a:ext>
            </a:extLst>
          </p:cNvPr>
          <p:cNvCxnSpPr>
            <a:stCxn id="30" idx="2"/>
          </p:cNvCxnSpPr>
          <p:nvPr/>
        </p:nvCxnSpPr>
        <p:spPr>
          <a:xfrm flipH="1">
            <a:off x="3024826" y="4674329"/>
            <a:ext cx="1438546" cy="1819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3F6DDE8-09E4-0924-D1D3-FC745757D761}"/>
              </a:ext>
            </a:extLst>
          </p:cNvPr>
          <p:cNvCxnSpPr/>
          <p:nvPr/>
        </p:nvCxnSpPr>
        <p:spPr>
          <a:xfrm flipH="1">
            <a:off x="3024826" y="4782117"/>
            <a:ext cx="1214017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16073998-E4B9-6FBE-F2F3-D17A62C0E17E}"/>
              </a:ext>
            </a:extLst>
          </p:cNvPr>
          <p:cNvSpPr/>
          <p:nvPr/>
        </p:nvSpPr>
        <p:spPr>
          <a:xfrm rot="4884300">
            <a:off x="1187239" y="3239026"/>
            <a:ext cx="211360" cy="29417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412E4DF-7329-9A26-02BC-60FA375FE2D3}"/>
              </a:ext>
            </a:extLst>
          </p:cNvPr>
          <p:cNvGrpSpPr/>
          <p:nvPr/>
        </p:nvGrpSpPr>
        <p:grpSpPr>
          <a:xfrm>
            <a:off x="1144760" y="2119761"/>
            <a:ext cx="1558209" cy="2730196"/>
            <a:chOff x="8288447" y="2360582"/>
            <a:chExt cx="1558209" cy="2730196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B0DFA06-2478-D9AA-9693-47DDEA9B045B}"/>
                </a:ext>
              </a:extLst>
            </p:cNvPr>
            <p:cNvGrpSpPr/>
            <p:nvPr/>
          </p:nvGrpSpPr>
          <p:grpSpPr>
            <a:xfrm>
              <a:off x="8347761" y="2360582"/>
              <a:ext cx="1498895" cy="2730196"/>
              <a:chOff x="2490057" y="2083709"/>
              <a:chExt cx="1498895" cy="2730196"/>
            </a:xfrm>
            <a:grpFill/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3A7189AD-B7D1-1D33-DECB-CA74BC641E30}"/>
                  </a:ext>
                </a:extLst>
              </p:cNvPr>
              <p:cNvGrpSpPr/>
              <p:nvPr/>
            </p:nvGrpSpPr>
            <p:grpSpPr>
              <a:xfrm>
                <a:off x="2490057" y="2083709"/>
                <a:ext cx="1498895" cy="2730196"/>
                <a:chOff x="2490057" y="2083709"/>
                <a:chExt cx="1498895" cy="2730196"/>
              </a:xfrm>
              <a:grpFill/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F3F884B-4193-7C29-D466-AB4EE061304B}"/>
                    </a:ext>
                  </a:extLst>
                </p:cNvPr>
                <p:cNvSpPr/>
                <p:nvPr/>
              </p:nvSpPr>
              <p:spPr>
                <a:xfrm>
                  <a:off x="3596404" y="4768186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5205E065-9BFA-BDBF-9064-932FAEFACBB1}"/>
                    </a:ext>
                  </a:extLst>
                </p:cNvPr>
                <p:cNvSpPr/>
                <p:nvPr/>
              </p:nvSpPr>
              <p:spPr>
                <a:xfrm>
                  <a:off x="3649210" y="4549164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2E419C18-B8EA-7D37-A8BE-E9F8B2876B8F}"/>
                    </a:ext>
                  </a:extLst>
                </p:cNvPr>
                <p:cNvSpPr/>
                <p:nvPr/>
              </p:nvSpPr>
              <p:spPr>
                <a:xfrm>
                  <a:off x="3551218" y="4188753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E3274E7-A0A4-C764-C589-18D02951552F}"/>
                    </a:ext>
                  </a:extLst>
                </p:cNvPr>
                <p:cNvSpPr/>
                <p:nvPr/>
              </p:nvSpPr>
              <p:spPr>
                <a:xfrm>
                  <a:off x="3626351" y="3944641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E20BDB9B-A114-F77A-131D-B6ABEA2DED59}"/>
                    </a:ext>
                  </a:extLst>
                </p:cNvPr>
                <p:cNvSpPr/>
                <p:nvPr/>
              </p:nvSpPr>
              <p:spPr>
                <a:xfrm>
                  <a:off x="3619798" y="3458845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BB0A9A94-62FE-0F14-3CB1-D56959F50A48}"/>
                    </a:ext>
                  </a:extLst>
                </p:cNvPr>
                <p:cNvSpPr/>
                <p:nvPr/>
              </p:nvSpPr>
              <p:spPr>
                <a:xfrm>
                  <a:off x="2490057" y="2083709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5EBA433-1088-1C2C-35FE-4E0FF85CA965}"/>
                    </a:ext>
                  </a:extLst>
                </p:cNvPr>
                <p:cNvSpPr/>
                <p:nvPr/>
              </p:nvSpPr>
              <p:spPr>
                <a:xfrm>
                  <a:off x="2757489" y="2088003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64CBC33E-5793-54BC-EC24-D6BF474B5700}"/>
                    </a:ext>
                  </a:extLst>
                </p:cNvPr>
                <p:cNvSpPr/>
                <p:nvPr/>
              </p:nvSpPr>
              <p:spPr>
                <a:xfrm>
                  <a:off x="2995194" y="2211385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B13EDB8E-7A7B-6B16-2EEA-B934BED58964}"/>
                    </a:ext>
                  </a:extLst>
                </p:cNvPr>
                <p:cNvSpPr/>
                <p:nvPr/>
              </p:nvSpPr>
              <p:spPr>
                <a:xfrm>
                  <a:off x="3293106" y="2175410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1A3DBAA9-FF31-AC1E-F2EC-80DE5E2F8534}"/>
                    </a:ext>
                  </a:extLst>
                </p:cNvPr>
                <p:cNvSpPr/>
                <p:nvPr/>
              </p:nvSpPr>
              <p:spPr>
                <a:xfrm>
                  <a:off x="3551218" y="2179704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B8733B48-16C3-06C3-2F8F-6CC1DCA88514}"/>
                    </a:ext>
                  </a:extLst>
                </p:cNvPr>
                <p:cNvSpPr/>
                <p:nvPr/>
              </p:nvSpPr>
              <p:spPr>
                <a:xfrm>
                  <a:off x="3695462" y="2172468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F15A5998-74B2-DB5D-647F-761A93A7B329}"/>
                    </a:ext>
                  </a:extLst>
                </p:cNvPr>
                <p:cNvSpPr/>
                <p:nvPr/>
              </p:nvSpPr>
              <p:spPr>
                <a:xfrm>
                  <a:off x="3943233" y="2095622"/>
                  <a:ext cx="45719" cy="45719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21EC430-856C-2F46-8705-F5E6D6F32070}"/>
                  </a:ext>
                </a:extLst>
              </p:cNvPr>
              <p:cNvSpPr/>
              <p:nvPr/>
            </p:nvSpPr>
            <p:spPr>
              <a:xfrm>
                <a:off x="3596404" y="364730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033407E7-9F7F-32E2-2551-662EF9329F64}"/>
                </a:ext>
              </a:extLst>
            </p:cNvPr>
            <p:cNvSpPr/>
            <p:nvPr/>
          </p:nvSpPr>
          <p:spPr>
            <a:xfrm rot="4755982">
              <a:off x="8329855" y="3480264"/>
              <a:ext cx="211360" cy="294176"/>
            </a:xfrm>
            <a:prstGeom prst="triangl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9A60BB2-8C8F-4AC8-E83B-1FD7732E0D01}"/>
              </a:ext>
            </a:extLst>
          </p:cNvPr>
          <p:cNvCxnSpPr>
            <a:stCxn id="95" idx="1"/>
          </p:cNvCxnSpPr>
          <p:nvPr/>
        </p:nvCxnSpPr>
        <p:spPr>
          <a:xfrm flipV="1">
            <a:off x="1210769" y="2075885"/>
            <a:ext cx="115548" cy="50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A6FC406-8914-AA0E-28F3-9E797A06E57E}"/>
              </a:ext>
            </a:extLst>
          </p:cNvPr>
          <p:cNvCxnSpPr>
            <a:stCxn id="96" idx="0"/>
          </p:cNvCxnSpPr>
          <p:nvPr/>
        </p:nvCxnSpPr>
        <p:spPr>
          <a:xfrm flipH="1" flipV="1">
            <a:off x="1494365" y="2075885"/>
            <a:ext cx="1" cy="4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D06BEA9-D9F4-0030-70AF-A087265C1E39}"/>
              </a:ext>
            </a:extLst>
          </p:cNvPr>
          <p:cNvCxnSpPr>
            <a:stCxn id="97" idx="0"/>
          </p:cNvCxnSpPr>
          <p:nvPr/>
        </p:nvCxnSpPr>
        <p:spPr>
          <a:xfrm flipH="1" flipV="1">
            <a:off x="1732070" y="2075885"/>
            <a:ext cx="1" cy="171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75675D6-E6E0-D914-DDC7-63300AD92BF1}"/>
              </a:ext>
            </a:extLst>
          </p:cNvPr>
          <p:cNvCxnSpPr>
            <a:stCxn id="98" idx="0"/>
          </p:cNvCxnSpPr>
          <p:nvPr/>
        </p:nvCxnSpPr>
        <p:spPr>
          <a:xfrm flipH="1" flipV="1">
            <a:off x="2029982" y="2075885"/>
            <a:ext cx="1" cy="135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C888904-7267-BF15-0461-65FAF1B3BB06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2288095" y="1900238"/>
            <a:ext cx="0" cy="315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60ECA93-47A9-40AA-CB36-0D34F5CC77C1}"/>
              </a:ext>
            </a:extLst>
          </p:cNvPr>
          <p:cNvCxnSpPr>
            <a:stCxn id="100" idx="0"/>
          </p:cNvCxnSpPr>
          <p:nvPr/>
        </p:nvCxnSpPr>
        <p:spPr>
          <a:xfrm flipH="1" flipV="1">
            <a:off x="2432338" y="2075885"/>
            <a:ext cx="1" cy="132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FF0C5B6-02DA-C7D9-DBC4-A707CA8C71EC}"/>
              </a:ext>
            </a:extLst>
          </p:cNvPr>
          <p:cNvCxnSpPr>
            <a:stCxn id="101" idx="0"/>
          </p:cNvCxnSpPr>
          <p:nvPr/>
        </p:nvCxnSpPr>
        <p:spPr>
          <a:xfrm flipH="1" flipV="1">
            <a:off x="2680109" y="2057997"/>
            <a:ext cx="1" cy="73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0AA870F-D841-0615-37B9-AD229E524EEC}"/>
              </a:ext>
            </a:extLst>
          </p:cNvPr>
          <p:cNvCxnSpPr>
            <a:stCxn id="92" idx="6"/>
          </p:cNvCxnSpPr>
          <p:nvPr/>
        </p:nvCxnSpPr>
        <p:spPr>
          <a:xfrm flipV="1">
            <a:off x="2310954" y="4221514"/>
            <a:ext cx="369155" cy="26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>
            <a:extLst>
              <a:ext uri="{FF2B5EF4-FFF2-40B4-BE49-F238E27FC236}">
                <a16:creationId xmlns:a16="http://schemas.microsoft.com/office/drawing/2014/main" id="{4F82334E-1372-1B4D-1C4E-6C3B663487FE}"/>
              </a:ext>
            </a:extLst>
          </p:cNvPr>
          <p:cNvSpPr/>
          <p:nvPr/>
        </p:nvSpPr>
        <p:spPr>
          <a:xfrm rot="14725614">
            <a:off x="3964575" y="1893210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9D68FF5-10F3-4107-AB79-CBEC35FEF438}"/>
              </a:ext>
            </a:extLst>
          </p:cNvPr>
          <p:cNvGrpSpPr/>
          <p:nvPr/>
        </p:nvGrpSpPr>
        <p:grpSpPr>
          <a:xfrm rot="10076746">
            <a:off x="2647438" y="704438"/>
            <a:ext cx="1558209" cy="2730196"/>
            <a:chOff x="8288447" y="2360582"/>
            <a:chExt cx="1558209" cy="2730196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FD4BE66-E5DD-94DF-87A5-CCACD78FC413}"/>
                </a:ext>
              </a:extLst>
            </p:cNvPr>
            <p:cNvGrpSpPr/>
            <p:nvPr/>
          </p:nvGrpSpPr>
          <p:grpSpPr>
            <a:xfrm>
              <a:off x="8347761" y="2360582"/>
              <a:ext cx="1498895" cy="2730196"/>
              <a:chOff x="2490057" y="2083709"/>
              <a:chExt cx="1498895" cy="2730196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0D27EC67-5AFB-337E-2214-8664A8DB7984}"/>
                  </a:ext>
                </a:extLst>
              </p:cNvPr>
              <p:cNvGrpSpPr/>
              <p:nvPr/>
            </p:nvGrpSpPr>
            <p:grpSpPr>
              <a:xfrm>
                <a:off x="2490057" y="2083709"/>
                <a:ext cx="1498895" cy="2730196"/>
                <a:chOff x="2490057" y="2083709"/>
                <a:chExt cx="1498895" cy="2730196"/>
              </a:xfrm>
            </p:grpSpPr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00807E52-568C-56E0-22A5-29018640E631}"/>
                    </a:ext>
                  </a:extLst>
                </p:cNvPr>
                <p:cNvSpPr/>
                <p:nvPr/>
              </p:nvSpPr>
              <p:spPr>
                <a:xfrm>
                  <a:off x="3596404" y="4768186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D15EFD02-50D7-729E-526E-DA0420F31A5F}"/>
                    </a:ext>
                  </a:extLst>
                </p:cNvPr>
                <p:cNvSpPr/>
                <p:nvPr/>
              </p:nvSpPr>
              <p:spPr>
                <a:xfrm>
                  <a:off x="3649210" y="454916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710A036D-57BC-1390-C451-9CCA9F2C6C5D}"/>
                    </a:ext>
                  </a:extLst>
                </p:cNvPr>
                <p:cNvSpPr/>
                <p:nvPr/>
              </p:nvSpPr>
              <p:spPr>
                <a:xfrm>
                  <a:off x="3551218" y="418875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F2FF1D10-3F5B-2E26-C553-0059A8071E1C}"/>
                    </a:ext>
                  </a:extLst>
                </p:cNvPr>
                <p:cNvSpPr/>
                <p:nvPr/>
              </p:nvSpPr>
              <p:spPr>
                <a:xfrm>
                  <a:off x="3626351" y="3944641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D9826F9A-5620-90A8-88AF-8BBE570685D1}"/>
                    </a:ext>
                  </a:extLst>
                </p:cNvPr>
                <p:cNvSpPr/>
                <p:nvPr/>
              </p:nvSpPr>
              <p:spPr>
                <a:xfrm>
                  <a:off x="3619798" y="3458845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0A0AEE77-F304-1519-DE73-0D2F96C3E28C}"/>
                    </a:ext>
                  </a:extLst>
                </p:cNvPr>
                <p:cNvSpPr/>
                <p:nvPr/>
              </p:nvSpPr>
              <p:spPr>
                <a:xfrm>
                  <a:off x="2490057" y="2083709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6930E4D1-3F75-FEC8-0561-A8739A3690BA}"/>
                    </a:ext>
                  </a:extLst>
                </p:cNvPr>
                <p:cNvSpPr/>
                <p:nvPr/>
              </p:nvSpPr>
              <p:spPr>
                <a:xfrm>
                  <a:off x="2757489" y="2088003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CE1F3ADB-F6CF-4CE8-7B2E-84EEA9E88118}"/>
                    </a:ext>
                  </a:extLst>
                </p:cNvPr>
                <p:cNvSpPr/>
                <p:nvPr/>
              </p:nvSpPr>
              <p:spPr>
                <a:xfrm>
                  <a:off x="2995194" y="2211385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23EB22E9-6824-D29A-2699-446FED45F3DC}"/>
                    </a:ext>
                  </a:extLst>
                </p:cNvPr>
                <p:cNvSpPr/>
                <p:nvPr/>
              </p:nvSpPr>
              <p:spPr>
                <a:xfrm>
                  <a:off x="3293106" y="2175410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3D155AA3-A0E2-73C3-56FB-9571C7C36C2B}"/>
                    </a:ext>
                  </a:extLst>
                </p:cNvPr>
                <p:cNvSpPr/>
                <p:nvPr/>
              </p:nvSpPr>
              <p:spPr>
                <a:xfrm>
                  <a:off x="3551218" y="2179704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5AD73552-7671-89CC-183F-4B0938591E0C}"/>
                    </a:ext>
                  </a:extLst>
                </p:cNvPr>
                <p:cNvSpPr/>
                <p:nvPr/>
              </p:nvSpPr>
              <p:spPr>
                <a:xfrm>
                  <a:off x="3695462" y="2172468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CA51F1C-671F-5DBA-E616-0CFFDB5516CF}"/>
                    </a:ext>
                  </a:extLst>
                </p:cNvPr>
                <p:cNvSpPr/>
                <p:nvPr/>
              </p:nvSpPr>
              <p:spPr>
                <a:xfrm>
                  <a:off x="3943233" y="2095622"/>
                  <a:ext cx="45719" cy="45719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807BA03-79A5-F0FA-8864-C2336A0AD3F3}"/>
                  </a:ext>
                </a:extLst>
              </p:cNvPr>
              <p:cNvSpPr/>
              <p:nvPr/>
            </p:nvSpPr>
            <p:spPr>
              <a:xfrm>
                <a:off x="3596404" y="364730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2" name="Isosceles Triangle 121">
              <a:extLst>
                <a:ext uri="{FF2B5EF4-FFF2-40B4-BE49-F238E27FC236}">
                  <a16:creationId xmlns:a16="http://schemas.microsoft.com/office/drawing/2014/main" id="{EE9AA654-E75A-2CE1-6E37-2BDEDCCAC0AB}"/>
                </a:ext>
              </a:extLst>
            </p:cNvPr>
            <p:cNvSpPr/>
            <p:nvPr/>
          </p:nvSpPr>
          <p:spPr>
            <a:xfrm rot="4755982">
              <a:off x="8329855" y="3480264"/>
              <a:ext cx="211360" cy="2941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AB28D77-3512-3C4A-E370-28A517247A79}"/>
              </a:ext>
            </a:extLst>
          </p:cNvPr>
          <p:cNvCxnSpPr>
            <a:stCxn id="125" idx="6"/>
          </p:cNvCxnSpPr>
          <p:nvPr/>
        </p:nvCxnSpPr>
        <p:spPr>
          <a:xfrm>
            <a:off x="2723489" y="847168"/>
            <a:ext cx="12091" cy="804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30363F4-6262-A247-E93E-505D7423B455}"/>
              </a:ext>
            </a:extLst>
          </p:cNvPr>
          <p:cNvCxnSpPr>
            <a:stCxn id="127" idx="6"/>
            <a:endCxn id="128" idx="1"/>
          </p:cNvCxnSpPr>
          <p:nvPr/>
        </p:nvCxnSpPr>
        <p:spPr>
          <a:xfrm>
            <a:off x="2888686" y="1404388"/>
            <a:ext cx="19042" cy="262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C15C9FA-8CC2-55C9-4F28-26FC08AE9DCB}"/>
              </a:ext>
            </a:extLst>
          </p:cNvPr>
          <p:cNvCxnSpPr>
            <a:cxnSpLocks/>
          </p:cNvCxnSpPr>
          <p:nvPr/>
        </p:nvCxnSpPr>
        <p:spPr>
          <a:xfrm>
            <a:off x="2987778" y="1938560"/>
            <a:ext cx="1467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3FC97CF-734C-DE41-DA43-DA600FE6D43D}"/>
              </a:ext>
            </a:extLst>
          </p:cNvPr>
          <p:cNvCxnSpPr>
            <a:stCxn id="129" idx="1"/>
          </p:cNvCxnSpPr>
          <p:nvPr/>
        </p:nvCxnSpPr>
        <p:spPr>
          <a:xfrm flipH="1" flipV="1">
            <a:off x="3007056" y="2075885"/>
            <a:ext cx="8533" cy="64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9DF2CE1-BCA8-8462-E891-93FB2F09DDD3}"/>
              </a:ext>
            </a:extLst>
          </p:cNvPr>
          <p:cNvCxnSpPr>
            <a:stCxn id="130" idx="2"/>
          </p:cNvCxnSpPr>
          <p:nvPr/>
        </p:nvCxnSpPr>
        <p:spPr>
          <a:xfrm flipV="1">
            <a:off x="4410772" y="3116293"/>
            <a:ext cx="752506" cy="115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F3BF5D9-8890-D470-C5C1-0FFAE3A9C07C}"/>
              </a:ext>
            </a:extLst>
          </p:cNvPr>
          <p:cNvCxnSpPr>
            <a:stCxn id="131" idx="1"/>
          </p:cNvCxnSpPr>
          <p:nvPr/>
        </p:nvCxnSpPr>
        <p:spPr>
          <a:xfrm flipV="1">
            <a:off x="4145168" y="3116293"/>
            <a:ext cx="1028200" cy="184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F379A9A-C35C-F511-7C4C-3BC4BFF08AD7}"/>
              </a:ext>
            </a:extLst>
          </p:cNvPr>
          <p:cNvCxnSpPr>
            <a:stCxn id="136" idx="3"/>
          </p:cNvCxnSpPr>
          <p:nvPr/>
        </p:nvCxnSpPr>
        <p:spPr>
          <a:xfrm flipV="1">
            <a:off x="2977227" y="3474054"/>
            <a:ext cx="47599" cy="35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0E11C16F-268D-ACCC-124D-556897CEEC25}"/>
              </a:ext>
            </a:extLst>
          </p:cNvPr>
          <p:cNvCxnSpPr>
            <a:stCxn id="135" idx="0"/>
          </p:cNvCxnSpPr>
          <p:nvPr/>
        </p:nvCxnSpPr>
        <p:spPr>
          <a:xfrm flipH="1">
            <a:off x="3024826" y="3423920"/>
            <a:ext cx="171001" cy="501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D963B63-AD1F-06F0-603A-F330CBE0BCD8}"/>
              </a:ext>
            </a:extLst>
          </p:cNvPr>
          <p:cNvCxnSpPr>
            <a:stCxn id="134" idx="7"/>
          </p:cNvCxnSpPr>
          <p:nvPr/>
        </p:nvCxnSpPr>
        <p:spPr>
          <a:xfrm flipH="1">
            <a:off x="3001026" y="3383548"/>
            <a:ext cx="317148" cy="1081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DD950A1-893C-2B39-162E-79F71A9B9950}"/>
              </a:ext>
            </a:extLst>
          </p:cNvPr>
          <p:cNvCxnSpPr>
            <a:stCxn id="133" idx="5"/>
          </p:cNvCxnSpPr>
          <p:nvPr/>
        </p:nvCxnSpPr>
        <p:spPr>
          <a:xfrm flipH="1">
            <a:off x="3024826" y="3302228"/>
            <a:ext cx="539914" cy="1467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C9864B71-8D14-93C1-A548-632B2DE6C818}"/>
              </a:ext>
            </a:extLst>
          </p:cNvPr>
          <p:cNvCxnSpPr>
            <a:stCxn id="132" idx="5"/>
          </p:cNvCxnSpPr>
          <p:nvPr/>
        </p:nvCxnSpPr>
        <p:spPr>
          <a:xfrm flipH="1">
            <a:off x="3061173" y="3204831"/>
            <a:ext cx="787397" cy="232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1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F4B2-EB53-3330-F302-B62B4377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Prevzorkovanie</a:t>
            </a:r>
            <a:r>
              <a:rPr lang="sk-SK" dirty="0"/>
              <a:t> stavov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1469-959A-C19A-8390-694372374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8807"/>
            <a:ext cx="8596668" cy="3880773"/>
          </a:xfrm>
        </p:spPr>
        <p:txBody>
          <a:bodyPr/>
          <a:lstStyle/>
          <a:p>
            <a:r>
              <a:rPr lang="sk-SK" dirty="0"/>
              <a:t>Z n stavov sa vytvorí nových n stavov pomocou </a:t>
            </a:r>
            <a:r>
              <a:rPr lang="sk-SK" dirty="0" err="1"/>
              <a:t>ruletového</a:t>
            </a:r>
            <a:r>
              <a:rPr lang="sk-SK" dirty="0"/>
              <a:t> výberu</a:t>
            </a:r>
          </a:p>
          <a:p>
            <a:r>
              <a:rPr lang="sk-SK" dirty="0"/>
              <a:t>Stavy s vyššou váhou zaberajú na rulete väčšiu časť</a:t>
            </a:r>
            <a:endParaRPr lang="en-GB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20668D2-27BC-9F07-E97C-049BA3FF20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816178"/>
              </p:ext>
            </p:extLst>
          </p:nvPr>
        </p:nvGraphicFramePr>
        <p:xfrm>
          <a:off x="812800" y="3098800"/>
          <a:ext cx="5067300" cy="3433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CA089C0-FC7A-D0C2-2FAB-D6C1E48EAD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0216396"/>
              </p:ext>
            </p:extLst>
          </p:nvPr>
        </p:nvGraphicFramePr>
        <p:xfrm>
          <a:off x="6861002" y="2684329"/>
          <a:ext cx="3324398" cy="3357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E45B5CF6-217E-DBD1-B93C-DFAD0F5324B1}"/>
              </a:ext>
            </a:extLst>
          </p:cNvPr>
          <p:cNvSpPr/>
          <p:nvPr/>
        </p:nvSpPr>
        <p:spPr>
          <a:xfrm>
            <a:off x="6096000" y="4000500"/>
            <a:ext cx="774700" cy="774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65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47BB-CCF8-6019-4A77-2F38692A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FBB248-976A-61E8-C64F-FDE4AB06870C}"/>
              </a:ext>
            </a:extLst>
          </p:cNvPr>
          <p:cNvGraphicFramePr>
            <a:graphicFrameLocks noGrp="1"/>
          </p:cNvGraphicFramePr>
          <p:nvPr/>
        </p:nvGraphicFramePr>
        <p:xfrm>
          <a:off x="734658" y="1405086"/>
          <a:ext cx="6671195" cy="3954700"/>
        </p:xfrm>
        <a:graphic>
          <a:graphicData uri="http://schemas.openxmlformats.org/drawingml/2006/table">
            <a:tbl>
              <a:tblPr/>
              <a:tblGrid>
                <a:gridCol w="6671195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</a:tblGrid>
              <a:tr h="39547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C536FB-C3FF-8667-BEEC-2A4A7B9DBFCB}"/>
              </a:ext>
            </a:extLst>
          </p:cNvPr>
          <p:cNvCxnSpPr>
            <a:cxnSpLocks/>
          </p:cNvCxnSpPr>
          <p:nvPr/>
        </p:nvCxnSpPr>
        <p:spPr>
          <a:xfrm>
            <a:off x="390709" y="5359788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E24D6A8-2317-28F2-F683-6C4B313ACB12}"/>
              </a:ext>
            </a:extLst>
          </p:cNvPr>
          <p:cNvCxnSpPr/>
          <p:nvPr/>
        </p:nvCxnSpPr>
        <p:spPr>
          <a:xfrm flipV="1">
            <a:off x="734658" y="2499142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66343A9-61AF-EE0C-5D65-F22482C5A5C0}"/>
                  </a:ext>
                </a:extLst>
              </p:cNvPr>
              <p:cNvSpPr/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66343A9-61AF-EE0C-5D65-F22482C5A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89D7E13-E298-D72D-DDFD-6F95BA5BD429}"/>
              </a:ext>
            </a:extLst>
          </p:cNvPr>
          <p:cNvSpPr/>
          <p:nvPr/>
        </p:nvSpPr>
        <p:spPr>
          <a:xfrm>
            <a:off x="2345344" y="3438709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0172E3-4B6D-EF29-54F3-8C04F804263B}"/>
              </a:ext>
            </a:extLst>
          </p:cNvPr>
          <p:cNvSpPr/>
          <p:nvPr/>
        </p:nvSpPr>
        <p:spPr>
          <a:xfrm>
            <a:off x="1326317" y="1651666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506FC3-45E1-05D5-1998-8D011DC6C0C9}"/>
              </a:ext>
            </a:extLst>
          </p:cNvPr>
          <p:cNvSpPr/>
          <p:nvPr/>
        </p:nvSpPr>
        <p:spPr>
          <a:xfrm>
            <a:off x="5148304" y="2360582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FC909F7-BE90-A7AE-A5C7-E8F36C8414F9}"/>
                  </a:ext>
                </a:extLst>
              </p:cNvPr>
              <p:cNvSpPr/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FC909F7-BE90-A7AE-A5C7-E8F36C841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77591724-6740-EF60-78D5-A37823E48A85}"/>
              </a:ext>
            </a:extLst>
          </p:cNvPr>
          <p:cNvSpPr/>
          <p:nvPr/>
        </p:nvSpPr>
        <p:spPr>
          <a:xfrm rot="4884300">
            <a:off x="1187239" y="3239026"/>
            <a:ext cx="211360" cy="29417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C2D7D20E-DB7B-55D5-18DA-B3685C5E545D}"/>
              </a:ext>
            </a:extLst>
          </p:cNvPr>
          <p:cNvSpPr/>
          <p:nvPr/>
        </p:nvSpPr>
        <p:spPr>
          <a:xfrm rot="5718403">
            <a:off x="6364485" y="1928796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68704FA-B54B-75E6-796F-B28ED676770B}"/>
              </a:ext>
            </a:extLst>
          </p:cNvPr>
          <p:cNvSpPr/>
          <p:nvPr/>
        </p:nvSpPr>
        <p:spPr>
          <a:xfrm rot="12467250">
            <a:off x="3431168" y="4678949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5D16EB1D-2266-7719-86B8-D14E7C266132}"/>
              </a:ext>
            </a:extLst>
          </p:cNvPr>
          <p:cNvSpPr/>
          <p:nvPr/>
        </p:nvSpPr>
        <p:spPr>
          <a:xfrm rot="11462868">
            <a:off x="2487435" y="2442666"/>
            <a:ext cx="211360" cy="294176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8E511503-74A6-3B0D-B21C-D850AA5CE98A}"/>
              </a:ext>
            </a:extLst>
          </p:cNvPr>
          <p:cNvSpPr/>
          <p:nvPr/>
        </p:nvSpPr>
        <p:spPr>
          <a:xfrm rot="7882388">
            <a:off x="1197455" y="4635029"/>
            <a:ext cx="211360" cy="29417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A0031C-6838-F0A7-D01E-96A5468538FB}"/>
              </a:ext>
            </a:extLst>
          </p:cNvPr>
          <p:cNvSpPr txBox="1"/>
          <p:nvPr/>
        </p:nvSpPr>
        <p:spPr>
          <a:xfrm>
            <a:off x="2272328" y="5517290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Skupina stavov v priestore</a:t>
            </a:r>
            <a:endParaRPr lang="en-GB" dirty="0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2F109225-2DB7-EB94-862B-8E56FDD106D0}"/>
              </a:ext>
            </a:extLst>
          </p:cNvPr>
          <p:cNvSpPr/>
          <p:nvPr/>
        </p:nvSpPr>
        <p:spPr>
          <a:xfrm rot="14725614">
            <a:off x="3964575" y="1893210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1F419-D181-8EA3-34EC-FF1510CA0501}"/>
              </a:ext>
            </a:extLst>
          </p:cNvPr>
          <p:cNvSpPr txBox="1"/>
          <p:nvPr/>
        </p:nvSpPr>
        <p:spPr>
          <a:xfrm>
            <a:off x="758346" y="319777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3x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FD8E-B968-6B33-AB7A-9038BCF6A414}"/>
              </a:ext>
            </a:extLst>
          </p:cNvPr>
          <p:cNvSpPr txBox="1"/>
          <p:nvPr/>
        </p:nvSpPr>
        <p:spPr>
          <a:xfrm>
            <a:off x="2109587" y="236058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2x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03940B-65C9-D995-7FE4-7D2A7D701304}"/>
              </a:ext>
            </a:extLst>
          </p:cNvPr>
          <p:cNvSpPr txBox="1"/>
          <p:nvPr/>
        </p:nvSpPr>
        <p:spPr>
          <a:xfrm>
            <a:off x="5919455" y="186013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2x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4256EB-26E8-0926-E04F-770D02354EC4}"/>
              </a:ext>
            </a:extLst>
          </p:cNvPr>
          <p:cNvSpPr txBox="1"/>
          <p:nvPr/>
        </p:nvSpPr>
        <p:spPr>
          <a:xfrm>
            <a:off x="7633775" y="2920771"/>
            <a:ext cx="3740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Po </a:t>
            </a:r>
            <a:r>
              <a:rPr lang="sk-SK" dirty="0" err="1"/>
              <a:t>prevzrokovaní</a:t>
            </a:r>
            <a:r>
              <a:rPr lang="sk-SK" dirty="0"/>
              <a:t> sa niektoré</a:t>
            </a:r>
          </a:p>
          <a:p>
            <a:r>
              <a:rPr lang="sk-SK" dirty="0"/>
              <a:t> stavy nachádzajú v reprezentácii </a:t>
            </a:r>
          </a:p>
          <a:p>
            <a:r>
              <a:rPr lang="sk-SK" dirty="0"/>
              <a:t>viac krát, niektoré vymizli </a:t>
            </a:r>
            <a:endParaRPr lang="en-GB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A391D10-7032-0C35-2CC1-F9E5879D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 dirty="0"/>
              <a:t>Stavy po </a:t>
            </a:r>
            <a:r>
              <a:rPr lang="sk-SK" dirty="0" err="1"/>
              <a:t>prevzorkovaní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484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9D0C-CC29-0376-B3BD-2CFB72CD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Pohyb robota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55E7-BCE1-E928-8DC7-443952F8F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k-SK" dirty="0"/>
              <a:t>Na pohyb je aplikovaný šum</a:t>
            </a:r>
          </a:p>
          <a:p>
            <a:endParaRPr lang="sk-SK" dirty="0"/>
          </a:p>
          <a:p>
            <a:r>
              <a:rPr lang="sk-SK" dirty="0"/>
              <a:t>Šumový model pre pohyb robota</a:t>
            </a:r>
          </a:p>
          <a:p>
            <a:pPr lvl="1"/>
            <a:r>
              <a:rPr lang="sk-SK" dirty="0"/>
              <a:t>a1 chyba rotácia pri rotačnom pohybe</a:t>
            </a:r>
          </a:p>
          <a:p>
            <a:pPr lvl="1"/>
            <a:r>
              <a:rPr lang="sk-SK" dirty="0"/>
              <a:t>a2 chyba rotácie pri </a:t>
            </a:r>
            <a:r>
              <a:rPr lang="sk-SK" dirty="0" err="1"/>
              <a:t>translačnom</a:t>
            </a:r>
            <a:r>
              <a:rPr lang="sk-SK" dirty="0"/>
              <a:t> pohybe</a:t>
            </a:r>
          </a:p>
          <a:p>
            <a:pPr lvl="1"/>
            <a:r>
              <a:rPr lang="sk-SK" dirty="0"/>
              <a:t>a3 chyba translácie pri </a:t>
            </a:r>
            <a:r>
              <a:rPr lang="sk-SK" dirty="0" err="1"/>
              <a:t>translačnom</a:t>
            </a:r>
            <a:r>
              <a:rPr lang="sk-SK" dirty="0"/>
              <a:t> pohybe</a:t>
            </a:r>
          </a:p>
          <a:p>
            <a:pPr lvl="1"/>
            <a:r>
              <a:rPr lang="sk-SK" dirty="0"/>
              <a:t>a4  chyba translácie pri rotačnom pohybe</a:t>
            </a:r>
          </a:p>
          <a:p>
            <a:r>
              <a:rPr lang="sk-SK" dirty="0"/>
              <a:t>Pohyb sa rozkladá väčšinou na tri kroky</a:t>
            </a:r>
          </a:p>
          <a:p>
            <a:pPr lvl="1"/>
            <a:r>
              <a:rPr lang="sk-SK" dirty="0"/>
              <a:t>Natočenie na cieľ</a:t>
            </a:r>
          </a:p>
          <a:p>
            <a:pPr lvl="1"/>
            <a:r>
              <a:rPr lang="sk-SK" dirty="0"/>
              <a:t>Pohyb na cieľ</a:t>
            </a:r>
          </a:p>
          <a:p>
            <a:pPr lvl="1"/>
            <a:r>
              <a:rPr lang="sk-SK" dirty="0"/>
              <a:t>Rotácia na želané natočenie   (pri spojitom pohybe môžete tento krok vynechať)</a:t>
            </a:r>
            <a:endParaRPr lang="en-GB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0C5BB99-08AA-CDAE-6235-020FACFA429B}"/>
              </a:ext>
            </a:extLst>
          </p:cNvPr>
          <p:cNvSpPr/>
          <p:nvPr/>
        </p:nvSpPr>
        <p:spPr>
          <a:xfrm rot="3874125">
            <a:off x="7010400" y="4394200"/>
            <a:ext cx="482600" cy="6096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E4BE52C-4825-7691-9875-23EB0BB8DB6D}"/>
              </a:ext>
            </a:extLst>
          </p:cNvPr>
          <p:cNvSpPr/>
          <p:nvPr/>
        </p:nvSpPr>
        <p:spPr>
          <a:xfrm rot="1092761">
            <a:off x="8356600" y="2374900"/>
            <a:ext cx="482600" cy="6096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B05C8B-DED5-21E8-B0A5-77E4C69F5634}"/>
              </a:ext>
            </a:extLst>
          </p:cNvPr>
          <p:cNvCxnSpPr/>
          <p:nvPr/>
        </p:nvCxnSpPr>
        <p:spPr>
          <a:xfrm flipV="1">
            <a:off x="7124700" y="2679700"/>
            <a:ext cx="1473200" cy="2019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C8C8241-4C16-4CF0-2C1E-9421250C259F}"/>
              </a:ext>
            </a:extLst>
          </p:cNvPr>
          <p:cNvSpPr/>
          <p:nvPr/>
        </p:nvSpPr>
        <p:spPr>
          <a:xfrm rot="1168449">
            <a:off x="7406860" y="2293570"/>
            <a:ext cx="2310076" cy="793907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23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53E3-4723-347B-6E4D-3C6807D8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84A2F0-4CAB-D617-AD2B-C6A0E9D0B96F}"/>
              </a:ext>
            </a:extLst>
          </p:cNvPr>
          <p:cNvGraphicFramePr>
            <a:graphicFrameLocks noGrp="1"/>
          </p:cNvGraphicFramePr>
          <p:nvPr/>
        </p:nvGraphicFramePr>
        <p:xfrm>
          <a:off x="734658" y="1405086"/>
          <a:ext cx="6671195" cy="3954700"/>
        </p:xfrm>
        <a:graphic>
          <a:graphicData uri="http://schemas.openxmlformats.org/drawingml/2006/table">
            <a:tbl>
              <a:tblPr/>
              <a:tblGrid>
                <a:gridCol w="6671195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</a:tblGrid>
              <a:tr h="39547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BF3D31-091D-4295-635E-0841692FA5BE}"/>
              </a:ext>
            </a:extLst>
          </p:cNvPr>
          <p:cNvCxnSpPr>
            <a:cxnSpLocks/>
          </p:cNvCxnSpPr>
          <p:nvPr/>
        </p:nvCxnSpPr>
        <p:spPr>
          <a:xfrm>
            <a:off x="390709" y="5359788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7B4D09-9795-7574-AE28-8862445CA5EB}"/>
              </a:ext>
            </a:extLst>
          </p:cNvPr>
          <p:cNvCxnSpPr/>
          <p:nvPr/>
        </p:nvCxnSpPr>
        <p:spPr>
          <a:xfrm flipV="1">
            <a:off x="734658" y="2499142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9C014A-E2A7-4440-0171-3232089D4FAD}"/>
                  </a:ext>
                </a:extLst>
              </p:cNvPr>
              <p:cNvSpPr/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9C014A-E2A7-4440-0171-3232089D4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39" y="2593073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76191A1-E505-D8E1-7FED-7F6CBB88B4EA}"/>
              </a:ext>
            </a:extLst>
          </p:cNvPr>
          <p:cNvSpPr/>
          <p:nvPr/>
        </p:nvSpPr>
        <p:spPr>
          <a:xfrm>
            <a:off x="2345344" y="3438709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1E1BB0-E0D0-9EDB-0FD9-5D067528E81C}"/>
              </a:ext>
            </a:extLst>
          </p:cNvPr>
          <p:cNvSpPr/>
          <p:nvPr/>
        </p:nvSpPr>
        <p:spPr>
          <a:xfrm>
            <a:off x="1326317" y="1651666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C24F7C-E3E7-C1E9-A326-DB3691939750}"/>
              </a:ext>
            </a:extLst>
          </p:cNvPr>
          <p:cNvSpPr/>
          <p:nvPr/>
        </p:nvSpPr>
        <p:spPr>
          <a:xfrm>
            <a:off x="5148304" y="2360582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600AA-F7A5-B0A8-C5E9-2D1D1C6873CD}"/>
                  </a:ext>
                </a:extLst>
              </p:cNvPr>
              <p:cNvSpPr/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600AA-F7A5-B0A8-C5E9-2D1D1C6873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738" y="5359786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0B456A6A-FF12-5E7E-D5A8-6198D3F626FF}"/>
              </a:ext>
            </a:extLst>
          </p:cNvPr>
          <p:cNvSpPr/>
          <p:nvPr/>
        </p:nvSpPr>
        <p:spPr>
          <a:xfrm rot="4884300">
            <a:off x="1187239" y="3239026"/>
            <a:ext cx="211360" cy="294176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DAB41360-B79A-7B38-F9B7-A149D6B27B69}"/>
              </a:ext>
            </a:extLst>
          </p:cNvPr>
          <p:cNvSpPr/>
          <p:nvPr/>
        </p:nvSpPr>
        <p:spPr>
          <a:xfrm rot="5718403">
            <a:off x="6364485" y="1928796"/>
            <a:ext cx="211360" cy="294176"/>
          </a:xfrm>
          <a:prstGeom prst="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AC4405E6-6758-646C-4D92-7462BE1D1641}"/>
              </a:ext>
            </a:extLst>
          </p:cNvPr>
          <p:cNvSpPr/>
          <p:nvPr/>
        </p:nvSpPr>
        <p:spPr>
          <a:xfrm rot="12467250">
            <a:off x="3431168" y="4678949"/>
            <a:ext cx="211360" cy="294176"/>
          </a:xfrm>
          <a:prstGeom prst="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5125F42-2FE8-E920-23D2-E69EB0F4C4AA}"/>
              </a:ext>
            </a:extLst>
          </p:cNvPr>
          <p:cNvSpPr/>
          <p:nvPr/>
        </p:nvSpPr>
        <p:spPr>
          <a:xfrm rot="11462868">
            <a:off x="2487435" y="2442666"/>
            <a:ext cx="211360" cy="294176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5BF27E84-EA88-A865-D4F3-CC8C27815D1C}"/>
              </a:ext>
            </a:extLst>
          </p:cNvPr>
          <p:cNvSpPr/>
          <p:nvPr/>
        </p:nvSpPr>
        <p:spPr>
          <a:xfrm rot="7882388">
            <a:off x="1197455" y="4635029"/>
            <a:ext cx="211360" cy="294176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600C4C-8872-5D80-FB70-1F6B685FE9AE}"/>
              </a:ext>
            </a:extLst>
          </p:cNvPr>
          <p:cNvSpPr txBox="1"/>
          <p:nvPr/>
        </p:nvSpPr>
        <p:spPr>
          <a:xfrm>
            <a:off x="2272328" y="5517290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Skupina stavov v priestore</a:t>
            </a:r>
            <a:endParaRPr lang="en-GB" dirty="0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509A1C67-36BD-3112-88BC-867DB8FE48FD}"/>
              </a:ext>
            </a:extLst>
          </p:cNvPr>
          <p:cNvSpPr/>
          <p:nvPr/>
        </p:nvSpPr>
        <p:spPr>
          <a:xfrm rot="14725614">
            <a:off x="3964575" y="1893210"/>
            <a:ext cx="211360" cy="294176"/>
          </a:xfrm>
          <a:prstGeom prst="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170DA-6962-6DE6-EBD1-A6B97CE43475}"/>
              </a:ext>
            </a:extLst>
          </p:cNvPr>
          <p:cNvSpPr txBox="1"/>
          <p:nvPr/>
        </p:nvSpPr>
        <p:spPr>
          <a:xfrm>
            <a:off x="758346" y="319777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3x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DF62E-182F-A632-D3D5-B8C63C32C3E4}"/>
              </a:ext>
            </a:extLst>
          </p:cNvPr>
          <p:cNvSpPr txBox="1"/>
          <p:nvPr/>
        </p:nvSpPr>
        <p:spPr>
          <a:xfrm>
            <a:off x="2109587" y="236058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2x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2CE4BC-DD59-7D7D-9EAB-7BEC1B2D7BD6}"/>
              </a:ext>
            </a:extLst>
          </p:cNvPr>
          <p:cNvSpPr txBox="1"/>
          <p:nvPr/>
        </p:nvSpPr>
        <p:spPr>
          <a:xfrm>
            <a:off x="5919455" y="186013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2x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DF7F0F-5839-B8C4-3A81-F5991B95326E}"/>
              </a:ext>
            </a:extLst>
          </p:cNvPr>
          <p:cNvSpPr txBox="1"/>
          <p:nvPr/>
        </p:nvSpPr>
        <p:spPr>
          <a:xfrm>
            <a:off x="7633775" y="2920771"/>
            <a:ext cx="4136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Po aplikovaní pohybu sa rovnaké stavy</a:t>
            </a:r>
          </a:p>
          <a:p>
            <a:r>
              <a:rPr lang="sk-SK" dirty="0"/>
              <a:t>rozídu</a:t>
            </a:r>
            <a:endParaRPr lang="en-GB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92F1B6A-CF8A-D678-D157-3F527F21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 dirty="0"/>
              <a:t>Stavy po aplikovaní pohybu</a:t>
            </a:r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6AC5C4-1F3A-3241-C0ED-91C28D88A759}"/>
              </a:ext>
            </a:extLst>
          </p:cNvPr>
          <p:cNvGrpSpPr/>
          <p:nvPr/>
        </p:nvGrpSpPr>
        <p:grpSpPr>
          <a:xfrm>
            <a:off x="8953205" y="3764733"/>
            <a:ext cx="1786901" cy="1371600"/>
            <a:chOff x="8379941" y="3563722"/>
            <a:chExt cx="2770036" cy="264673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3964434-005C-B116-88D6-906D559A48B6}"/>
                </a:ext>
              </a:extLst>
            </p:cNvPr>
            <p:cNvSpPr/>
            <p:nvPr/>
          </p:nvSpPr>
          <p:spPr>
            <a:xfrm rot="3874125">
              <a:off x="8443441" y="5664352"/>
              <a:ext cx="482600" cy="6096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201F43CA-B131-5D4C-D39B-D6A40BAB6655}"/>
                </a:ext>
              </a:extLst>
            </p:cNvPr>
            <p:cNvSpPr/>
            <p:nvPr/>
          </p:nvSpPr>
          <p:spPr>
            <a:xfrm rot="1092761">
              <a:off x="9789641" y="3645052"/>
              <a:ext cx="482600" cy="6096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0209B-6295-63C6-62BB-CE62BD03829C}"/>
                </a:ext>
              </a:extLst>
            </p:cNvPr>
            <p:cNvCxnSpPr/>
            <p:nvPr/>
          </p:nvCxnSpPr>
          <p:spPr>
            <a:xfrm flipV="1">
              <a:off x="8557741" y="3949852"/>
              <a:ext cx="1473200" cy="20193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C413D85-DEEE-BE96-F45F-D05A9581004C}"/>
                </a:ext>
              </a:extLst>
            </p:cNvPr>
            <p:cNvSpPr/>
            <p:nvPr/>
          </p:nvSpPr>
          <p:spPr>
            <a:xfrm rot="1168449">
              <a:off x="8839901" y="3563722"/>
              <a:ext cx="2310076" cy="793907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90BCB7F-1B91-A3AE-02D8-64A0C3C1D5CD}"/>
              </a:ext>
            </a:extLst>
          </p:cNvPr>
          <p:cNvSpPr/>
          <p:nvPr/>
        </p:nvSpPr>
        <p:spPr>
          <a:xfrm rot="2544171">
            <a:off x="1634914" y="2773683"/>
            <a:ext cx="211360" cy="29417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4453ED7-6D50-BFC5-40B7-0A9A777D3444}"/>
              </a:ext>
            </a:extLst>
          </p:cNvPr>
          <p:cNvSpPr/>
          <p:nvPr/>
        </p:nvSpPr>
        <p:spPr>
          <a:xfrm rot="4188501">
            <a:off x="1841889" y="2937224"/>
            <a:ext cx="211360" cy="29417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7D2F5F1-B6CC-B87F-FDCC-A68491706699}"/>
              </a:ext>
            </a:extLst>
          </p:cNvPr>
          <p:cNvSpPr/>
          <p:nvPr/>
        </p:nvSpPr>
        <p:spPr>
          <a:xfrm rot="4884300">
            <a:off x="1807916" y="3133579"/>
            <a:ext cx="211360" cy="29417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BC9890C-3D12-3B80-5FC0-D2591E6D6202}"/>
              </a:ext>
            </a:extLst>
          </p:cNvPr>
          <p:cNvSpPr/>
          <p:nvPr/>
        </p:nvSpPr>
        <p:spPr>
          <a:xfrm rot="12283343">
            <a:off x="2233078" y="2928329"/>
            <a:ext cx="211360" cy="294176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14573F3-B7AD-6F6D-7B3F-EAF93DB1A7A8}"/>
              </a:ext>
            </a:extLst>
          </p:cNvPr>
          <p:cNvSpPr/>
          <p:nvPr/>
        </p:nvSpPr>
        <p:spPr>
          <a:xfrm rot="11462868">
            <a:off x="2355526" y="2968966"/>
            <a:ext cx="211360" cy="294176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9A9DC4E-6FCB-B623-2BC0-D67C19BC3A40}"/>
              </a:ext>
            </a:extLst>
          </p:cNvPr>
          <p:cNvSpPr/>
          <p:nvPr/>
        </p:nvSpPr>
        <p:spPr>
          <a:xfrm rot="6870149">
            <a:off x="1403446" y="5159033"/>
            <a:ext cx="211360" cy="294176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7C12F14-AEB5-C6B1-C331-92D85A1555D4}"/>
              </a:ext>
            </a:extLst>
          </p:cNvPr>
          <p:cNvSpPr/>
          <p:nvPr/>
        </p:nvSpPr>
        <p:spPr>
          <a:xfrm rot="13282655">
            <a:off x="3257629" y="5240956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85BE32B-FDB6-1D69-BCD8-228C3340FECC}"/>
              </a:ext>
            </a:extLst>
          </p:cNvPr>
          <p:cNvSpPr/>
          <p:nvPr/>
        </p:nvSpPr>
        <p:spPr>
          <a:xfrm rot="13533526">
            <a:off x="3420436" y="2130521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84766093-3F17-B2D5-1FC4-61D0DEFEC016}"/>
              </a:ext>
            </a:extLst>
          </p:cNvPr>
          <p:cNvSpPr/>
          <p:nvPr/>
        </p:nvSpPr>
        <p:spPr>
          <a:xfrm rot="4666024">
            <a:off x="6978598" y="1700613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98A20626-9FC1-85E6-5F7B-3988EB9D322D}"/>
              </a:ext>
            </a:extLst>
          </p:cNvPr>
          <p:cNvSpPr/>
          <p:nvPr/>
        </p:nvSpPr>
        <p:spPr>
          <a:xfrm rot="5718403">
            <a:off x="6964606" y="1957564"/>
            <a:ext cx="211360" cy="294176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9038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8E14-3FE5-EF48-72AA-2A561129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efektívne určiť vzdialenosť bodu od prekážky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86734-2687-4F59-7CA2-201050511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Prvá možnosť:  vzdialenostné pole</a:t>
            </a:r>
          </a:p>
          <a:p>
            <a:r>
              <a:rPr lang="sk-SK" dirty="0"/>
              <a:t>Druhá možnosť </a:t>
            </a:r>
            <a:r>
              <a:rPr lang="sk-SK" dirty="0" err="1"/>
              <a:t>ray</a:t>
            </a:r>
            <a:r>
              <a:rPr lang="sk-SK" dirty="0"/>
              <a:t> </a:t>
            </a:r>
            <a:r>
              <a:rPr lang="sk-SK" dirty="0" err="1"/>
              <a:t>tracing</a:t>
            </a:r>
            <a:r>
              <a:rPr lang="sk-SK" dirty="0"/>
              <a:t> cez </a:t>
            </a:r>
            <a:r>
              <a:rPr lang="sk-SK" dirty="0" err="1"/>
              <a:t>bresennhamov</a:t>
            </a:r>
            <a:r>
              <a:rPr lang="sk-SK" dirty="0"/>
              <a:t> algoritmus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535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0D56-8FF6-4029-9609-69E846E6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Vzdialenostné pole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78F7E8-1EAF-43FA-B285-4F0184B22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17681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0 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FB8C85-55DC-4157-AFCC-85B04050E206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909898-C490-43A7-B7DC-4EA0A8D40365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73CA01-001B-4687-AFA7-62701214A673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73CA01-001B-4687-AFA7-62701214A6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E7B728-B7B5-435F-A1A3-5E90D27E6F8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E7B728-B7B5-435F-A1A3-5E90D27E6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97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0D56-8FF6-4029-9609-69E846E6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78F7E8-1EAF-43FA-B285-4F0184B22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70563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FB8C85-55DC-4157-AFCC-85B04050E206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909898-C490-43A7-B7DC-4EA0A8D40365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73CA01-001B-4687-AFA7-62701214A673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73CA01-001B-4687-AFA7-62701214A6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E7B728-B7B5-435F-A1A3-5E90D27E6F8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E7B728-B7B5-435F-A1A3-5E90D27E6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527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1403-05B2-1810-640D-D775A27F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A707-A46D-DB82-E2D5-24E7AB26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0EA90E-4F26-F3DA-72E6-30F854B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273687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84C751-A939-840E-6256-15595B897FCB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915FA9-4ADF-6EF9-E255-571E0C5C6CF7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78F3C59-418B-F1C5-F33C-2679F1965A8A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78F3C59-418B-F1C5-F33C-2679F1965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E25B66-95A8-F39B-FE58-44D0E1FA837B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E25B66-95A8-F39B-FE58-44D0E1FA8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415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F1FF-6B31-87B5-AD91-B946D750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F891-6BE5-E137-9972-ACBDC721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125319-E6B4-C928-18EA-B7E3630A3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37057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771F8F-43EA-D98D-5217-59AF5DB2332B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70B902-F380-68BB-8A59-599769551EFC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5C4D5D6-26A8-22C9-A56E-10C455ADAB5A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5C4D5D6-26A8-22C9-A56E-10C455ADA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A1CE89-0362-D90D-E66C-19A599C2FB89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A1CE89-0362-D90D-E66C-19A599C2FB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66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0D56-8FF6-4029-9609-69E846E6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Náhodné stavy 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78F7E8-1EAF-43FA-B285-4F0184B22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151611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FB8C85-55DC-4157-AFCC-85B04050E206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909898-C490-43A7-B7DC-4EA0A8D40365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73CA01-001B-4687-AFA7-62701214A673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73CA01-001B-4687-AFA7-62701214A6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E7B728-B7B5-435F-A1A3-5E90D27E6F8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1E7B728-B7B5-435F-A1A3-5E90D27E6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15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5BC41-AF8C-923D-1903-D42D159E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7CA4-F67A-0949-95F0-C704F313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012279-993E-EF8A-5746-576E9B12F719}"/>
              </a:ext>
            </a:extLst>
          </p:cNvPr>
          <p:cNvGraphicFramePr>
            <a:graphicFrameLocks noGrp="1"/>
          </p:cNvGraphicFramePr>
          <p:nvPr/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A7EECB-44CD-2A28-8CBB-A4B745486F96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4ACC52-D3C4-1A79-0F6D-2DBB8E15EB3B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DA96B6-9E85-4B66-29D2-3227E74E040C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DA96B6-9E85-4B66-29D2-3227E74E0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B3B49E-FDB3-17CD-9A56-F063F3958AEA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B3B49E-FDB3-17CD-9A56-F063F3958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F489DCB-09A3-D37C-CA5A-6F59CE2CA5C3}"/>
              </a:ext>
            </a:extLst>
          </p:cNvPr>
          <p:cNvGrpSpPr/>
          <p:nvPr/>
        </p:nvGrpSpPr>
        <p:grpSpPr>
          <a:xfrm>
            <a:off x="3565790" y="2044594"/>
            <a:ext cx="3045649" cy="2614200"/>
            <a:chOff x="3666385" y="698622"/>
            <a:chExt cx="3045649" cy="2614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F90049-E3BF-24D5-9113-B243BA95D762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6E26926-12A3-6142-DB03-731DC94F3E03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742CA24-A1AF-646D-7E5D-A0D3BBFD3209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A3CE751-E8B9-DFA3-7ABA-F4AA785381DE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55A5BB-CADA-FC55-4FA3-A3E2E28497CF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E7C0B0A-1D44-1B65-9BDE-1A8BFA9EB1D5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2EA29F8-CC3C-E2B9-36E8-4D5BDAA934B3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3EFB418-F676-47A3-DA18-6E6E731D77EC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0A5DBFC-CA4F-EE5D-12E4-928B8AF4BFD9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493934-94B1-2F61-E6D9-6FD715CC48DA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F7D8F68-8C67-1FEB-1397-47D1778A0459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91CB39-6A6C-5E11-776F-414B3AB703E7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A94AF6-1046-A2CA-0DBB-CE55FE3C93C7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8344624-89DC-E5C4-06D4-84D96F53B35F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B2EA9E1-78E5-6EC9-31E6-F25F801C4E2C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A5E79E5-D5E8-4B21-7F41-8C586B4D334E}"/>
              </a:ext>
            </a:extLst>
          </p:cNvPr>
          <p:cNvGrpSpPr/>
          <p:nvPr/>
        </p:nvGrpSpPr>
        <p:grpSpPr>
          <a:xfrm rot="2249264">
            <a:off x="1222911" y="1853758"/>
            <a:ext cx="3045649" cy="2614200"/>
            <a:chOff x="3666385" y="698622"/>
            <a:chExt cx="3045649" cy="26142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E5383DD-2F16-5737-8692-085716ED897F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26517A0-668D-282B-9949-EBC9E4B3D1A5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75F3A9E-64ED-3D48-B876-3A3D5C3DEAFF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4FE8FFB-873C-6197-1E11-412757C108BC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AAB7F9E-0158-1347-9C52-73D889BCC398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557C877-4667-6D4D-1331-832B5D946C6C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D91F905-4CE4-990A-A09C-1AE325A462A4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66EEC29-86C9-1E7B-8FF2-CEFC45FD0ADA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08DE23D-B9CD-6AB9-D652-30BFE4554C93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B6C024C-19BC-DBFD-80E3-F690E678A91E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5DE0602-CC1C-22D8-44B3-A30FEF349243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9824D50-574F-D51E-6DFB-20D095A3957E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4635824-45B4-169D-0CB4-68BF8CA93876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14004E7-6ABA-B299-CDED-7A858FCB1ACF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637B752-A415-16C8-906A-9827DE890A7C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38EFAA3-97F0-24AD-6C35-A1B9F25C5805}"/>
              </a:ext>
            </a:extLst>
          </p:cNvPr>
          <p:cNvGrpSpPr/>
          <p:nvPr/>
        </p:nvGrpSpPr>
        <p:grpSpPr>
          <a:xfrm rot="1684544">
            <a:off x="703392" y="3703194"/>
            <a:ext cx="3045649" cy="2614200"/>
            <a:chOff x="3666385" y="698622"/>
            <a:chExt cx="3045649" cy="2614200"/>
          </a:xfrm>
          <a:solidFill>
            <a:schemeClr val="accent2"/>
          </a:solidFill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13FDD16-B80C-1B2D-E4D8-FB454A445606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C0C2CD9-FCA1-338A-78F9-1D0756859FB2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2670581-D04C-345C-2C71-57A3EEAF1588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2BA8202-E803-AEBD-5CEC-E236119119A2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08C97C4-C706-6AFB-4BD9-4894FC1C1EB0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EC4D78E-01B4-0F6D-792A-5498EB04C4B3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2A81525-5B19-4EBA-FBA9-F4E272C346C7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069C2F4-CEE1-59B8-343F-E80795BCAF06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F103D2C-D9F1-2CD8-9ACF-9B4653E9B0FB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C0CE2C5-980D-276B-2817-CB00FE09CD0B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EEA2FCA-76ED-33F4-183B-57859618DFC7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11DA81D-9C8E-BDCE-62CD-233D9F9DA2FB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88CF6AB-B3CE-1A21-5B36-92D6B8AFB503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BB065FE-6B48-39A2-7A69-B3F8FDAA013A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8D1414C-54F2-6E2C-1178-7E6927EA7580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7452AC1-47DF-A76B-4708-19B177CC2D82}"/>
              </a:ext>
            </a:extLst>
          </p:cNvPr>
          <p:cNvGrpSpPr/>
          <p:nvPr/>
        </p:nvGrpSpPr>
        <p:grpSpPr>
          <a:xfrm rot="1215818">
            <a:off x="5382526" y="3744245"/>
            <a:ext cx="3045649" cy="2614200"/>
            <a:chOff x="3666385" y="698622"/>
            <a:chExt cx="3045649" cy="2614200"/>
          </a:xfrm>
          <a:solidFill>
            <a:srgbClr val="002060"/>
          </a:solidFill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E89D198-2246-E25F-98A6-30AD77E9FB4F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FF3BCF4-558A-5746-E19F-C350C39E704F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BF51CFF-F90B-C551-1C16-45093833BEAC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6C70F04-12E1-0878-085B-965033B5B12D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EBB6557-82E8-F2A3-5003-16A39C445468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37986EB-6531-002D-B7A1-8E3EB5126174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655368C-D071-111D-C157-49A6F81420A6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A5978F4-0640-E84D-1CAE-35EABB54B277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B5C6C29-5144-896C-5129-622889619624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E243B35-71C2-578B-ED93-0A9D3B975692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D54C50E-6FB9-AC89-D882-DA9EBA07BE37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0F7387B-2937-C1A7-10E2-37D70B7E8842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165377F-E45A-FDB6-04BD-C0DFCB2F16E9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1C383E59-2E16-292E-8C8A-7BA0CDE67AE1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09F7B26-D408-0179-CD37-C61B1BC9CC45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DEB4B26-7DAF-3153-7733-87B5CAC84822}"/>
              </a:ext>
            </a:extLst>
          </p:cNvPr>
          <p:cNvGrpSpPr/>
          <p:nvPr/>
        </p:nvGrpSpPr>
        <p:grpSpPr>
          <a:xfrm rot="16200000">
            <a:off x="6462883" y="926712"/>
            <a:ext cx="3045649" cy="2614200"/>
            <a:chOff x="3666385" y="698622"/>
            <a:chExt cx="3045649" cy="2614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3426DAB-41F0-891F-8B2C-906779667DCB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186BC8C-EA65-8549-3CB1-5F5FD70228D4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668A873-6558-8148-A13E-88633769961D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364A6BF-A765-1AAC-77F9-3A47C9500253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87BA118-1912-D323-50A1-46E3E53C1798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A0B76B2-4180-57DD-03E6-B01D902B787C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EA7B5B4-38C0-42D7-02B2-6000BADEA675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1E2BB269-5B76-2B01-0FA2-6FF23112C2E9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90044820-14BC-9A23-3BED-04E17AF3D555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ECD4FD7-C62C-6872-E65F-608718F79C5D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8A888E6-B74D-2DB2-7D81-8D99CF17EAD6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BA178DC-6BF7-554A-DD1A-B4993488529C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D919304-F6F2-7E2C-2DB1-5F61B79A4E91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CAB5508-F0BF-1C92-846F-B123B2A77C87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B88927D-F998-C6ED-A8B0-262264127AC0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99837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5317-79F0-3997-23D7-54324BC3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0729"/>
            <a:ext cx="8596668" cy="1320800"/>
          </a:xfrm>
        </p:spPr>
        <p:txBody>
          <a:bodyPr/>
          <a:lstStyle/>
          <a:p>
            <a:r>
              <a:rPr lang="sk-SK" dirty="0"/>
              <a:t>Vypočítajte chybu stavu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04AF88-F2DF-F3DD-EE88-41C7E2A3C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325003"/>
              </p:ext>
            </p:extLst>
          </p:nvPr>
        </p:nvGraphicFramePr>
        <p:xfrm>
          <a:off x="1385455" y="695897"/>
          <a:ext cx="7721594" cy="55365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1735">
                  <a:extLst>
                    <a:ext uri="{9D8B030D-6E8A-4147-A177-3AD203B41FA5}">
                      <a16:colId xmlns:a16="http://schemas.microsoft.com/office/drawing/2014/main" val="95489014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263829298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554918396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3551413002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6378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38398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2394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5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6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81014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ECD572-6364-0351-2E1B-375857CDED60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293901-0EAA-4E62-2A44-C2DA71EA6636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4CF8F5-BE52-695D-0CF3-454275AAEB63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4CF8F5-BE52-695D-0CF3-454275AAE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9E05B3-6CD6-6EC4-9465-6861BB99EA89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9E05B3-6CD6-6EC4-9465-6861BB99E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850920E7-E854-96A9-C78B-4915E31F5C17}"/>
              </a:ext>
            </a:extLst>
          </p:cNvPr>
          <p:cNvGrpSpPr/>
          <p:nvPr/>
        </p:nvGrpSpPr>
        <p:grpSpPr>
          <a:xfrm rot="1215818">
            <a:off x="5382526" y="3744245"/>
            <a:ext cx="3045649" cy="2614200"/>
            <a:chOff x="3666385" y="698622"/>
            <a:chExt cx="3045649" cy="2614200"/>
          </a:xfrm>
          <a:solidFill>
            <a:srgbClr val="002060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9AF0121-8C40-2259-B3E3-7EC5166622D5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E813FC-3104-FF05-3A02-BAFB3FDEC127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1B888E-3BC6-F73B-0A30-AD473F65712F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F79661D-578B-6B49-15BD-3B27D715A4A7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D8FB76B-4C75-5626-1AE8-A9B4CF95E65E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4F07E79-1982-183F-9AAA-80C665DD59E3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A9C5DB2-3121-3DF4-A84D-63D4BCFDE5E8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06D64CF-9BDA-6775-A247-5A2742F92685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1FAD684-0F52-A148-CAA2-10BA780EC6BF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60863-2BDC-60EA-6A36-96B6AE2AD161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05BF1AF-1B87-C325-2452-52E412D37B91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44E747B-B73D-F08F-3A96-04B329A7A5D1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8C85D98-C198-2290-1103-F799E44CDDB0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8B854E-E861-C096-5E2A-D919870B5C10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DB37BBE-13FD-8659-1186-4FDDF810A741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DB56AD6-0CD8-F351-D0C3-A89F9CA9DBDA}"/>
              </a:ext>
            </a:extLst>
          </p:cNvPr>
          <p:cNvSpPr txBox="1"/>
          <p:nvPr/>
        </p:nvSpPr>
        <p:spPr>
          <a:xfrm>
            <a:off x="9402618" y="1930400"/>
            <a:ext cx="2281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e=2+1+0+1+0+3+3+4+5+5+5+4+3+3+3= 42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432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A141-639B-8C8E-94D8-AE2DB0C6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BF4B-DB37-4B07-AE82-C26CE8D5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Chyby pre všetky stavy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836A31-B438-56FD-D0FC-B04BDA635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43473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100" dirty="0"/>
                        <a:t>33</a:t>
                      </a:r>
                      <a:endParaRPr lang="en-GB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100" dirty="0"/>
                        <a:t>21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100" dirty="0"/>
                        <a:t>57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100" dirty="0">
                          <a:solidFill>
                            <a:schemeClr val="bg1"/>
                          </a:solidFill>
                        </a:rPr>
                        <a:t>42</a:t>
                      </a:r>
                      <a:endParaRPr lang="en-GB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8C8CBD-6808-C8A3-349B-E13E01DC4241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0EE0B0-A6F4-FE2B-CE44-8DD4A795E76F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C44F019-B0F4-69D5-68C1-82EEF903984C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DA96B6-9E85-4B66-29D2-3227E74E0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307B4D-AF75-6540-56F3-7557FE21FDE0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B3B49E-FDB3-17CD-9A56-F063F3958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5122658-F257-16BC-79A0-E4ED80C042E5}"/>
              </a:ext>
            </a:extLst>
          </p:cNvPr>
          <p:cNvGrpSpPr/>
          <p:nvPr/>
        </p:nvGrpSpPr>
        <p:grpSpPr>
          <a:xfrm>
            <a:off x="3565790" y="2044594"/>
            <a:ext cx="3045649" cy="2614200"/>
            <a:chOff x="3666385" y="698622"/>
            <a:chExt cx="3045649" cy="26142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779226-C043-20D3-7813-683E3D6556A1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FE4D30A-C831-B3D5-2BB5-80617F26D336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ED9B53-BB87-9180-09E3-2D65F7DD2F1C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C2A5F29-EC73-0F52-432D-C9C05C42D0F0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49D0E4F-2CD5-75B0-7C26-C6C2DAA0EB04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CC9C47-AA0B-9DFF-C167-96745C9885ED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7D99F54-06EB-F5D6-7089-DE17412FBEB4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66DE10A-618B-2744-919F-109FF393E71A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06EA61D-36EC-6330-F01F-9C3537DE4ED6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704625F-7469-87F3-52EE-00665A39F5D3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22F6D58-07F7-DF9F-F885-BE34586576B0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415BA9-B05A-C922-34FD-309B633D4A8B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394CA70-8B85-4A42-C1C5-71FF48A8DC8A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40A075-469D-C834-73C8-57248A529EE9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2A94321-5B1A-C763-6C2D-29C59F7E5146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C452DD8-6B9B-8CEE-53A0-48C0D985BD93}"/>
              </a:ext>
            </a:extLst>
          </p:cNvPr>
          <p:cNvGrpSpPr/>
          <p:nvPr/>
        </p:nvGrpSpPr>
        <p:grpSpPr>
          <a:xfrm rot="2249264">
            <a:off x="1222911" y="1853758"/>
            <a:ext cx="3045649" cy="2614200"/>
            <a:chOff x="3666385" y="698622"/>
            <a:chExt cx="3045649" cy="26142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B90104A-18B2-EFE5-9F23-78599A1A1113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5559540-7A18-0021-A531-8554D4C3A094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5CD9F48-0795-EFD9-8325-8863E3642522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F8274AC-900B-9385-6333-8285AACCCFCE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2C8435-C865-5BD8-5C0F-5819BCE592C0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32C0817-41B7-EB60-A3F0-1F5AA4E3DC96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DEC0BB8-9D4D-CC1A-9A52-EE6A501BEF4B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8C82C3C-2D42-49CA-1AFE-7891CEED8665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DDE4642-955A-9300-1E28-B1A9EE7A30B4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976C8EB-0B86-7D20-9B12-04A36B1BC20C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154808B-225F-966D-7C05-B3F61CBD4880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264E405-A06F-7540-808C-5A735CEC1492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A124CFD-C697-8EF9-C2DD-C95D2DF6EEF1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89718F7-13CC-2EBE-A330-C788F913750B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791CFCC-887D-5D37-687E-EC9A3537B90C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4EA5AAC-678F-35D5-4072-B0F435CF17E9}"/>
              </a:ext>
            </a:extLst>
          </p:cNvPr>
          <p:cNvGrpSpPr/>
          <p:nvPr/>
        </p:nvGrpSpPr>
        <p:grpSpPr>
          <a:xfrm rot="1684544">
            <a:off x="703392" y="3703194"/>
            <a:ext cx="3045649" cy="2614200"/>
            <a:chOff x="3666385" y="698622"/>
            <a:chExt cx="3045649" cy="2614200"/>
          </a:xfrm>
          <a:solidFill>
            <a:schemeClr val="accent2"/>
          </a:solidFill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999BBCC-17E5-4F60-5CB0-7BFAA69F73A2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FEFE8D0-BC18-5C7B-B4D2-45CC12A2B2C6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E80200D-3958-0020-A1B6-50A292626941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3DA928D-921C-B599-4B6D-DA7589BF88D8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E6665D1-0062-9386-30BF-7AA6444C562D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FAE15C4-647C-DB16-9831-5EA6970B1D45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0FABB1C-8ED3-51EC-FEE4-89083D479C88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112B085-43D3-4027-4E44-E8B7B01B51F1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43F1691-CF05-D84E-4F26-1F4A34136033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72687D1-549B-263A-657F-3EBD8E4D09D8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976A6BA-6B9A-6494-67C9-91F931A46EA9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8FF8C44-D774-02CC-0073-1DD898563E35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70FA7F5-9616-707E-9FA7-5FCA6FAE2413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FB3363F-C9A0-3DC6-998D-D9069BDE8336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0A7D517-E90B-A61C-6AB9-18A5B391AB62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C81FFE3-DF34-1A1D-D528-8C031CD35968}"/>
              </a:ext>
            </a:extLst>
          </p:cNvPr>
          <p:cNvGrpSpPr/>
          <p:nvPr/>
        </p:nvGrpSpPr>
        <p:grpSpPr>
          <a:xfrm rot="1215818">
            <a:off x="5382526" y="3744245"/>
            <a:ext cx="3045649" cy="2614200"/>
            <a:chOff x="3666385" y="698622"/>
            <a:chExt cx="3045649" cy="2614200"/>
          </a:xfrm>
          <a:solidFill>
            <a:srgbClr val="002060"/>
          </a:solidFill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1A6489CF-CD4D-BE8E-8501-706B30C5C50B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4D242B1-91CA-9AE6-435B-EF47BAACFE51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3C02B6F-6582-BD97-4BD9-E81903CFA5DB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90D7B38-08AF-49C4-CAFC-96DBC0D9D905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583D73A-F8B2-45DA-2EB0-80BA65F4B39D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67408B6-66AC-09D8-3DC8-4EA3C72BDE3F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A7367DC-919E-015F-8AB0-CAD6FDF01894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F564540-DAD9-87FC-EFFE-A37A60C1E656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9EF9857-7F93-02ED-3C07-1BED13436756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0A902A2-E2CA-879B-22BF-F4170178C3D2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AB83200-2AA5-7D22-2E5C-F132E5CAD66B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F348632-5920-A75F-28AD-003F72248F40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CA66CAE-62F1-3F87-A790-E48148296F53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513F9E5-BA0E-BD24-A36A-8181700E0AFE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C7DFFE1-EFFB-5487-5F98-4625DBF1BDD7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835A4D-C17A-2132-0448-C4786EAE6197}"/>
              </a:ext>
            </a:extLst>
          </p:cNvPr>
          <p:cNvGrpSpPr/>
          <p:nvPr/>
        </p:nvGrpSpPr>
        <p:grpSpPr>
          <a:xfrm rot="16200000">
            <a:off x="6462883" y="926712"/>
            <a:ext cx="3045649" cy="2614200"/>
            <a:chOff x="3666385" y="698622"/>
            <a:chExt cx="3045649" cy="2614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CB6B341-9731-8A96-1022-9DE626164153}"/>
                </a:ext>
              </a:extLst>
            </p:cNvPr>
            <p:cNvSpPr/>
            <p:nvPr/>
          </p:nvSpPr>
          <p:spPr>
            <a:xfrm>
              <a:off x="6579871" y="1143753"/>
              <a:ext cx="132163" cy="132163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84B2C2C-377C-71D1-D437-25B47ECCF631}"/>
                </a:ext>
              </a:extLst>
            </p:cNvPr>
            <p:cNvSpPr/>
            <p:nvPr/>
          </p:nvSpPr>
          <p:spPr>
            <a:xfrm>
              <a:off x="6516460" y="1388645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71F703A-68BD-84B1-0618-4EC552F747FE}"/>
                </a:ext>
              </a:extLst>
            </p:cNvPr>
            <p:cNvSpPr/>
            <p:nvPr/>
          </p:nvSpPr>
          <p:spPr>
            <a:xfrm>
              <a:off x="6550401" y="1762167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E542B0C-480D-E28D-EC5C-74D771840799}"/>
                </a:ext>
              </a:extLst>
            </p:cNvPr>
            <p:cNvSpPr/>
            <p:nvPr/>
          </p:nvSpPr>
          <p:spPr>
            <a:xfrm>
              <a:off x="6493600" y="2069879"/>
              <a:ext cx="149855" cy="14985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5170AEE-2C41-C37D-580A-98B75006D703}"/>
                </a:ext>
              </a:extLst>
            </p:cNvPr>
            <p:cNvSpPr/>
            <p:nvPr/>
          </p:nvSpPr>
          <p:spPr>
            <a:xfrm>
              <a:off x="4357304" y="3181991"/>
              <a:ext cx="130831" cy="13083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4A7D119-10F2-521E-F4B5-366085E791C9}"/>
                </a:ext>
              </a:extLst>
            </p:cNvPr>
            <p:cNvSpPr/>
            <p:nvPr/>
          </p:nvSpPr>
          <p:spPr>
            <a:xfrm>
              <a:off x="4357304" y="2976314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8AD3E0AB-11B4-4415-4336-A2D82E6188AC}"/>
                </a:ext>
              </a:extLst>
            </p:cNvPr>
            <p:cNvSpPr/>
            <p:nvPr/>
          </p:nvSpPr>
          <p:spPr>
            <a:xfrm>
              <a:off x="4360533" y="2326240"/>
              <a:ext cx="145671" cy="145671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36F02E79-EE23-8E28-9E76-44274B3111C5}"/>
                </a:ext>
              </a:extLst>
            </p:cNvPr>
            <p:cNvSpPr/>
            <p:nvPr/>
          </p:nvSpPr>
          <p:spPr>
            <a:xfrm>
              <a:off x="4371364" y="2041395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89C51E4-ECA3-E9A6-FD67-EF476613742C}"/>
                </a:ext>
              </a:extLst>
            </p:cNvPr>
            <p:cNvSpPr/>
            <p:nvPr/>
          </p:nvSpPr>
          <p:spPr>
            <a:xfrm>
              <a:off x="4113823" y="2031267"/>
              <a:ext cx="149856" cy="149856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BF2B498-2A8F-0E94-9963-025E513C1DAC}"/>
                </a:ext>
              </a:extLst>
            </p:cNvPr>
            <p:cNvSpPr/>
            <p:nvPr/>
          </p:nvSpPr>
          <p:spPr>
            <a:xfrm>
              <a:off x="3736736" y="2031266"/>
              <a:ext cx="141470" cy="141470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FABB923B-A373-D9EE-D493-E9266FBD528F}"/>
                </a:ext>
              </a:extLst>
            </p:cNvPr>
            <p:cNvSpPr/>
            <p:nvPr/>
          </p:nvSpPr>
          <p:spPr>
            <a:xfrm>
              <a:off x="4511092" y="877016"/>
              <a:ext cx="145672" cy="145672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CF0EFA5-1E3D-1A21-0551-DD3C06B3133A}"/>
                </a:ext>
              </a:extLst>
            </p:cNvPr>
            <p:cNvSpPr/>
            <p:nvPr/>
          </p:nvSpPr>
          <p:spPr>
            <a:xfrm>
              <a:off x="4239404" y="920365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D3501829-64E4-F1B1-4398-6712E64A54F7}"/>
                </a:ext>
              </a:extLst>
            </p:cNvPr>
            <p:cNvSpPr/>
            <p:nvPr/>
          </p:nvSpPr>
          <p:spPr>
            <a:xfrm>
              <a:off x="3918845" y="902146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8AD74B1-8C6C-34C8-E201-C5555004C01A}"/>
                </a:ext>
              </a:extLst>
            </p:cNvPr>
            <p:cNvSpPr/>
            <p:nvPr/>
          </p:nvSpPr>
          <p:spPr>
            <a:xfrm>
              <a:off x="3666385" y="855631"/>
              <a:ext cx="140665" cy="140665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F4016FA-8868-9CD6-1638-3669FE67A83F}"/>
                </a:ext>
              </a:extLst>
            </p:cNvPr>
            <p:cNvSpPr/>
            <p:nvPr/>
          </p:nvSpPr>
          <p:spPr>
            <a:xfrm>
              <a:off x="4680249" y="698622"/>
              <a:ext cx="139728" cy="139728"/>
            </a:xfrm>
            <a:prstGeom prst="ellipse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49827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9F43-8C78-EA8B-664F-4C52C98B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Bresenhamov</a:t>
            </a:r>
            <a:r>
              <a:rPr lang="sk-SK" dirty="0"/>
              <a:t> algoritmus 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73DBA-2CFC-2C0F-2870-7260EA07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Efektívny celočíselný algoritmus, ktorý určí cez ktoré body mapy prechádza úsečka</a:t>
            </a:r>
          </a:p>
          <a:p>
            <a:r>
              <a:rPr lang="sk-SK" dirty="0"/>
              <a:t>Viete určiť či daný bod mohol byť zaznamenaný z daného miesta 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812CDB-3A1F-4DF5-DCDF-1CE402008F1D}"/>
              </a:ext>
            </a:extLst>
          </p:cNvPr>
          <p:cNvSpPr txBox="1"/>
          <p:nvPr/>
        </p:nvSpPr>
        <p:spPr>
          <a:xfrm>
            <a:off x="1066800" y="3343275"/>
            <a:ext cx="255069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400" dirty="0" err="1">
                <a:solidFill>
                  <a:srgbClr val="0070C0"/>
                </a:solidFill>
              </a:rPr>
              <a:t>calculate</a:t>
            </a:r>
            <a:r>
              <a:rPr lang="en-GB" sz="1400" dirty="0"/>
              <a:t>(x0, y0, x1, y1)</a:t>
            </a:r>
          </a:p>
          <a:p>
            <a:r>
              <a:rPr lang="en-GB" sz="1400" dirty="0"/>
              <a:t>    dx = x1 - x0</a:t>
            </a:r>
          </a:p>
          <a:p>
            <a:r>
              <a:rPr lang="en-GB" sz="1400" dirty="0"/>
              <a:t>    </a:t>
            </a:r>
            <a:r>
              <a:rPr lang="en-GB" sz="1400" dirty="0" err="1"/>
              <a:t>dy</a:t>
            </a:r>
            <a:r>
              <a:rPr lang="en-GB" sz="1400" dirty="0"/>
              <a:t> = y1 - y0</a:t>
            </a:r>
          </a:p>
          <a:p>
            <a:r>
              <a:rPr lang="en-GB" sz="1400" dirty="0"/>
              <a:t>    D = 2*</a:t>
            </a:r>
            <a:r>
              <a:rPr lang="en-GB" sz="1400" dirty="0" err="1"/>
              <a:t>dy</a:t>
            </a:r>
            <a:r>
              <a:rPr lang="en-GB" sz="1400" dirty="0"/>
              <a:t> - dx</a:t>
            </a:r>
          </a:p>
          <a:p>
            <a:r>
              <a:rPr lang="en-GB" sz="1400" dirty="0"/>
              <a:t>    y = y0</a:t>
            </a:r>
          </a:p>
          <a:p>
            <a:endParaRPr lang="en-GB" sz="1400" dirty="0"/>
          </a:p>
          <a:p>
            <a:r>
              <a:rPr lang="en-GB" sz="1400" dirty="0"/>
              <a:t>    </a:t>
            </a:r>
            <a:r>
              <a:rPr lang="en-GB" sz="1400" dirty="0">
                <a:solidFill>
                  <a:srgbClr val="00B0F0"/>
                </a:solidFill>
              </a:rPr>
              <a:t>for</a:t>
            </a:r>
            <a:r>
              <a:rPr lang="en-GB" sz="1400" dirty="0"/>
              <a:t> x </a:t>
            </a:r>
            <a:r>
              <a:rPr lang="en-GB" sz="1400" dirty="0">
                <a:solidFill>
                  <a:srgbClr val="00B0F0"/>
                </a:solidFill>
              </a:rPr>
              <a:t>from</a:t>
            </a:r>
            <a:r>
              <a:rPr lang="en-GB" sz="1400" dirty="0"/>
              <a:t> x0 </a:t>
            </a:r>
            <a:r>
              <a:rPr lang="en-GB" sz="1400" dirty="0">
                <a:solidFill>
                  <a:srgbClr val="00B0F0"/>
                </a:solidFill>
              </a:rPr>
              <a:t>to</a:t>
            </a:r>
            <a:r>
              <a:rPr lang="en-GB" sz="1400" dirty="0"/>
              <a:t> x1</a:t>
            </a:r>
          </a:p>
          <a:p>
            <a:r>
              <a:rPr lang="en-GB" sz="1400" dirty="0"/>
              <a:t>        </a:t>
            </a:r>
            <a:r>
              <a:rPr lang="en-GB" sz="1400" dirty="0">
                <a:solidFill>
                  <a:srgbClr val="0070C0"/>
                </a:solidFill>
              </a:rPr>
              <a:t>check</a:t>
            </a:r>
            <a:r>
              <a:rPr lang="en-GB" sz="1400" dirty="0"/>
              <a:t>( map[x, y])</a:t>
            </a:r>
          </a:p>
          <a:p>
            <a:r>
              <a:rPr lang="en-GB" sz="1400" dirty="0"/>
              <a:t>        </a:t>
            </a:r>
            <a:r>
              <a:rPr lang="en-GB" sz="1400" dirty="0">
                <a:solidFill>
                  <a:srgbClr val="00B0F0"/>
                </a:solidFill>
              </a:rPr>
              <a:t>if</a:t>
            </a:r>
            <a:r>
              <a:rPr lang="en-GB" sz="1400" dirty="0"/>
              <a:t> D &gt; 0</a:t>
            </a:r>
          </a:p>
          <a:p>
            <a:r>
              <a:rPr lang="en-GB" sz="1400" dirty="0"/>
              <a:t>            y = y + 1</a:t>
            </a:r>
          </a:p>
          <a:p>
            <a:r>
              <a:rPr lang="en-GB" sz="1400" dirty="0"/>
              <a:t>            D = D + (2 * (</a:t>
            </a:r>
            <a:r>
              <a:rPr lang="en-GB" sz="1400" dirty="0" err="1"/>
              <a:t>dy</a:t>
            </a:r>
            <a:r>
              <a:rPr lang="en-GB" sz="1400" dirty="0"/>
              <a:t> - dx))</a:t>
            </a:r>
          </a:p>
          <a:p>
            <a:r>
              <a:rPr lang="en-GB" sz="1400" dirty="0"/>
              <a:t>        </a:t>
            </a:r>
            <a:r>
              <a:rPr lang="en-GB" sz="1400" dirty="0">
                <a:solidFill>
                  <a:srgbClr val="00B0F0"/>
                </a:solidFill>
              </a:rPr>
              <a:t>else</a:t>
            </a:r>
          </a:p>
          <a:p>
            <a:r>
              <a:rPr lang="en-GB" sz="1400" dirty="0"/>
              <a:t>            D = D + 2*</a:t>
            </a:r>
            <a:r>
              <a:rPr lang="en-GB" sz="1400" dirty="0" err="1"/>
              <a:t>dy</a:t>
            </a:r>
            <a:endParaRPr lang="en-GB" sz="1400" dirty="0"/>
          </a:p>
          <a:p>
            <a:r>
              <a:rPr lang="en-GB" sz="1400" dirty="0">
                <a:solidFill>
                  <a:srgbClr val="00B0F0"/>
                </a:solidFill>
              </a:rPr>
              <a:t>        end if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4268D6-9C31-A523-386F-C91D721401BD}"/>
              </a:ext>
            </a:extLst>
          </p:cNvPr>
          <p:cNvSpPr/>
          <p:nvPr/>
        </p:nvSpPr>
        <p:spPr>
          <a:xfrm>
            <a:off x="7153275" y="4276725"/>
            <a:ext cx="266700" cy="1047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5948E5-4163-3A9E-C1DD-F2FBFFF8DCDC}"/>
              </a:ext>
            </a:extLst>
          </p:cNvPr>
          <p:cNvSpPr/>
          <p:nvPr/>
        </p:nvSpPr>
        <p:spPr>
          <a:xfrm>
            <a:off x="8982075" y="3914775"/>
            <a:ext cx="752475" cy="819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2ACC063-125E-83E5-FA32-1EF268D432A7}"/>
              </a:ext>
            </a:extLst>
          </p:cNvPr>
          <p:cNvSpPr/>
          <p:nvPr/>
        </p:nvSpPr>
        <p:spPr>
          <a:xfrm rot="3170680">
            <a:off x="5734050" y="4810125"/>
            <a:ext cx="438150" cy="42862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CB6924-BBB5-D83C-5442-2E16B0281F94}"/>
              </a:ext>
            </a:extLst>
          </p:cNvPr>
          <p:cNvCxnSpPr>
            <a:endCxn id="14" idx="2"/>
          </p:cNvCxnSpPr>
          <p:nvPr/>
        </p:nvCxnSpPr>
        <p:spPr>
          <a:xfrm flipV="1">
            <a:off x="5905500" y="4324350"/>
            <a:ext cx="3076575" cy="733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4C59AB4-953A-B70F-3C51-0F4CB583FD8E}"/>
              </a:ext>
            </a:extLst>
          </p:cNvPr>
          <p:cNvSpPr/>
          <p:nvPr/>
        </p:nvSpPr>
        <p:spPr>
          <a:xfrm>
            <a:off x="8929687" y="4257675"/>
            <a:ext cx="104775" cy="1333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166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C09E-E0E8-469E-8492-D5D65FEF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Poznámky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4E8B-D525-494F-AE15-140D8B30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sk-SK" dirty="0" err="1"/>
              <a:t>átať</a:t>
            </a:r>
            <a:r>
              <a:rPr lang="sk-SK" dirty="0"/>
              <a:t> chybu cez vzdialenostné pole je rýchlejšie </a:t>
            </a:r>
          </a:p>
          <a:p>
            <a:r>
              <a:rPr lang="sk-SK" dirty="0"/>
              <a:t>Rátať chybu cez </a:t>
            </a:r>
            <a:r>
              <a:rPr lang="sk-SK" dirty="0" err="1"/>
              <a:t>ray</a:t>
            </a:r>
            <a:r>
              <a:rPr lang="sk-SK" dirty="0"/>
              <a:t> </a:t>
            </a:r>
            <a:r>
              <a:rPr lang="sk-SK" dirty="0" err="1"/>
              <a:t>tracing</a:t>
            </a:r>
            <a:r>
              <a:rPr lang="sk-SK" dirty="0"/>
              <a:t> dáva lepšie výsledky</a:t>
            </a:r>
          </a:p>
          <a:p>
            <a:pPr lvl="1"/>
            <a:r>
              <a:rPr lang="sk-SK" dirty="0"/>
              <a:t>Pri </a:t>
            </a:r>
            <a:r>
              <a:rPr lang="sk-SK" dirty="0" err="1"/>
              <a:t>bresenhamovom</a:t>
            </a:r>
            <a:r>
              <a:rPr lang="sk-SK" dirty="0"/>
              <a:t> algoritme pozor na úsečku v smere osi y (x sa </a:t>
            </a:r>
            <a:r>
              <a:rPr lang="sk-SK" dirty="0" err="1"/>
              <a:t>nemeni</a:t>
            </a:r>
            <a:r>
              <a:rPr lang="sk-SK" dirty="0"/>
              <a:t>)</a:t>
            </a:r>
          </a:p>
          <a:p>
            <a:endParaRPr lang="sk-SK" dirty="0"/>
          </a:p>
          <a:p>
            <a:r>
              <a:rPr lang="sk-SK" dirty="0"/>
              <a:t>Šum pri pohybe viete zjednodušiť a pridávať priamo šum na vypočítaný </a:t>
            </a:r>
            <a:r>
              <a:rPr lang="sk-SK" dirty="0" err="1"/>
              <a:t>X,Y,Fi</a:t>
            </a:r>
            <a:r>
              <a:rPr lang="sk-SK" dirty="0"/>
              <a:t>. ale pozor, šum X ,Y a </a:t>
            </a:r>
            <a:r>
              <a:rPr lang="sk-SK" dirty="0" err="1"/>
              <a:t>Fi</a:t>
            </a:r>
            <a:r>
              <a:rPr lang="sk-SK" dirty="0"/>
              <a:t> nie je nezávislý. Budete potrebovať viac stavov</a:t>
            </a:r>
          </a:p>
          <a:p>
            <a:r>
              <a:rPr lang="sk-SK" dirty="0"/>
              <a:t>Časť stavov pri </a:t>
            </a:r>
            <a:r>
              <a:rPr lang="sk-SK" dirty="0" err="1"/>
              <a:t>prevzorkovaní</a:t>
            </a:r>
            <a:r>
              <a:rPr lang="sk-SK" dirty="0"/>
              <a:t> vygenerujte ako náhodný stav – hlavne na začiatku, keď nemáte ešte dobre určenú polohu</a:t>
            </a:r>
          </a:p>
          <a:p>
            <a:endParaRPr lang="sk-SK" dirty="0"/>
          </a:p>
          <a:p>
            <a:r>
              <a:rPr lang="sk-SK" dirty="0"/>
              <a:t>Modifikácia AMCL – čím istejší ste si, tým menej stavov musíte generovať</a:t>
            </a:r>
          </a:p>
        </p:txBody>
      </p:sp>
    </p:spTree>
    <p:extLst>
      <p:ext uri="{BB962C8B-B14F-4D97-AF65-F5344CB8AC3E}">
        <p14:creationId xmlns:p14="http://schemas.microsoft.com/office/powerpoint/2010/main" val="9197260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315</TotalTime>
  <Words>1300</Words>
  <Application>Microsoft Office PowerPoint</Application>
  <PresentationFormat>Widescreen</PresentationFormat>
  <Paragraphs>911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Trebuchet MS</vt:lpstr>
      <vt:lpstr>Wingdings 3</vt:lpstr>
      <vt:lpstr>Facet</vt:lpstr>
      <vt:lpstr>RMR úloha 5</vt:lpstr>
      <vt:lpstr>Počiatočné podmienky</vt:lpstr>
      <vt:lpstr>Princíp fungovania</vt:lpstr>
      <vt:lpstr>Začiatok algoritmu</vt:lpstr>
      <vt:lpstr>Určenie váh</vt:lpstr>
      <vt:lpstr>Prevzorkovanie stavov</vt:lpstr>
      <vt:lpstr>Stavy po prevzorkovaní</vt:lpstr>
      <vt:lpstr>Pohyb robota</vt:lpstr>
      <vt:lpstr>Stavy po aplikovaní pohybu</vt:lpstr>
      <vt:lpstr>Ako efektívne určiť vzdialenosť bodu od prekážky</vt:lpstr>
      <vt:lpstr>Vzdialenostné pole</vt:lpstr>
      <vt:lpstr>PowerPoint Presentation</vt:lpstr>
      <vt:lpstr>PowerPoint Presentation</vt:lpstr>
      <vt:lpstr>PowerPoint Presentation</vt:lpstr>
      <vt:lpstr>Náhodné stavy </vt:lpstr>
      <vt:lpstr>PowerPoint Presentation</vt:lpstr>
      <vt:lpstr>Vypočítajte chybu stavu</vt:lpstr>
      <vt:lpstr>Chyby pre všetky stavy</vt:lpstr>
      <vt:lpstr>Bresenhamov algoritmus  </vt:lpstr>
      <vt:lpstr>Poznámky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RMR úloha 4</dc:title>
  <dc:creator>martin dekan</dc:creator>
  <cp:lastModifiedBy>Martin Dekan</cp:lastModifiedBy>
  <cp:revision>19</cp:revision>
  <dcterms:created xsi:type="dcterms:W3CDTF">2019-02-19T09:23:11Z</dcterms:created>
  <dcterms:modified xsi:type="dcterms:W3CDTF">2026-01-18T23:16:09Z</dcterms:modified>
</cp:coreProperties>
</file>